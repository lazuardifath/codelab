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rekan-rekan mahasiswa. Hari ini kita membangun fondasi terpenting rekayasa data: ERD. Sebelum sebaris pun perintah SQL ditulis, kita harus mampu menstrukturkan fakta bisnis ke model konseptual.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analogi arsitektur bangunan: jangan memesan semen dan bata sebelum memiliki blueprint yang divalidasi pemangku kepentingan.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bahwa pemodelan data berakar pada ketelitian analisis tata bahasa bahasa Indonesia: kata benda menjadi entitas, kata kerja menjadi relasi.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slide bento ini untuk memperkenalkan kosakata resmi ERD. Mahasiswa harus menguasai keenam definisi operasional ini.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tertukar: 'Mahasiswa' adalah wadah cetakannya (tipe entitas), Budi Santoso adalah baris data fisiknya (instansi entitas).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Weak entity kehilangan makna logis jika entitas induknya terhapus. Jangan gunakan istilah weak entity untuk sembarang tabel berelasi.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bagaimana atribut mendeskripsikan ciri entitas MAHASISWA. Tekankan prinsip data relevance: jangan menyimpan data yang tak terpakai.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overview ini memperlihatkan dimensi klasifikasi: struktur (atomik vs komposit), jumlah nilai (single vs multi), dan komputasi (stored vs derived).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konsep identifier: bedakan antara candidate key dan primary key tanpa masuk ke sintaks SQL.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Tegaskan perbedaan komposit dan multivalued: komposit berbicara tentang anatomi internal satu atribut, bukan jumlah nilai.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bahwa di tahap ERD konseptual kita cukup menandai oval ganda. Pembahasan normalisasi tabel pisah akan dibahas minggu depan.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Tanyakan kepada mahasiswa: 'Mengapa kita tidak menyimpan umur secara langsung?' Karena umur berubah setiap tahun tanpa ada aksi update.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Relasi adalah lem perekat data. Beri nama dengan kata kerja yang mencerminkan interaksi bisnis nyata.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Fokus utama pembelajaran kita tetap pada relasi biner (binary). Kenalkan unary dan ternary sebagai spektrum lanjutan.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Latih mahasiswa untuk selalu menguji kedua arah secara berurutan agar tidak salah menentukan kardinalitas.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1:N adalah relasi yang paling sering dijumpai dalam arsitektur database enterprise.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 tingkat konseptual, menulis relasi M:N sah secara teori. Pembahasan pemecahan tabel asosiasi KRS ada di modul berikutnya.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Entitas dan model datanya sama persis, yang berbeda hanyalah simbolisasinya.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Ingatkan aturan pembacaan: simbol paling ujung menunjukkan batas maksimum, simbol di sebelah dalamnya menunjukkan syarat minimum.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Diskusikan dekomposisi ini sebelum memperlihatkan hasilnya kepada mahasiswa di kelas.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Jadikan 6 langkah ini sebagai algoritma berpikir mahasiswa dalam memodelkan sistem apa pun.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 waktu 10 menit bagi mahasiswa untuk berdiskusi berpasangan sebelum membahas solusi pemodelan klinik bersama.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Checklist ini adalah gerbang kendali mutu (quality gate) mahasiswa sebelum mengubah ERD ke script SQL.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perkuliahan dengan meminta mahasiswa mengumpulkan Exit Ticket di meja depan sebelum meninggalkan kelas.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ounded Rectangle 1"/>
          <p:cNvSpPr/>
          <p:nvPr/>
        </p:nvSpPr>
        <p:spPr>
          <a:xfrm>
            <a:off x="1097280" y="1005840"/>
            <a:ext cx="4114800" cy="329184"/>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93C5FD"/>
                </a:solidFill>
                <a:latin typeface="Arial"/>
              </a:defRPr>
            </a:pPr>
            <a:r>
              <a:t>PROGRAM STUDI S1 TEKNOLOGI INFORMASI</a:t>
            </a:r>
          </a:p>
        </p:txBody>
      </p:sp>
      <p:sp>
        <p:nvSpPr>
          <p:cNvPr id="3" name="TextBox 2"/>
          <p:cNvSpPr txBox="1"/>
          <p:nvPr/>
        </p:nvSpPr>
        <p:spPr>
          <a:xfrm>
            <a:off x="1097280" y="1554480"/>
            <a:ext cx="10058400" cy="1645920"/>
          </a:xfrm>
          <a:prstGeom prst="rect">
            <a:avLst/>
          </a:prstGeom>
          <a:noFill/>
        </p:spPr>
        <p:txBody>
          <a:bodyPr wrap="square">
            <a:spAutoFit/>
          </a:bodyPr>
          <a:lstStyle/>
          <a:p>
            <a:pPr>
              <a:defRPr sz="3600" b="1">
                <a:solidFill>
                  <a:srgbClr val="F8FAFC"/>
                </a:solidFill>
                <a:latin typeface="Arial"/>
              </a:defRPr>
            </a:pPr>
            <a:r>
              <a:t>Komponen Dasar &amp;</a:t>
            </a:r>
            <a:br/>
            <a:r>
              <a:t>Entity Relationship Diagram</a:t>
            </a:r>
          </a:p>
        </p:txBody>
      </p:sp>
      <p:sp>
        <p:nvSpPr>
          <p:cNvPr id="4" name="TextBox 3"/>
          <p:cNvSpPr txBox="1"/>
          <p:nvPr/>
        </p:nvSpPr>
        <p:spPr>
          <a:xfrm>
            <a:off x="1097280" y="3291840"/>
            <a:ext cx="9601200" cy="640080"/>
          </a:xfrm>
          <a:prstGeom prst="rect">
            <a:avLst/>
          </a:prstGeom>
          <a:noFill/>
        </p:spPr>
        <p:txBody>
          <a:bodyPr wrap="none">
            <a:spAutoFit/>
          </a:bodyPr>
          <a:lstStyle/>
          <a:p>
            <a:pPr>
              <a:defRPr sz="1800">
                <a:solidFill>
                  <a:srgbClr val="94A3B8"/>
                </a:solidFill>
                <a:latin typeface="Arial"/>
              </a:defRPr>
            </a:pPr>
            <a:r>
              <a:t>Menjembatani Semantik Fakta Nyata Menjadi Cetak Biru Basis Data Konseptual</a:t>
            </a:r>
          </a:p>
        </p:txBody>
      </p:sp>
      <p:sp>
        <p:nvSpPr>
          <p:cNvPr id="5" name="Rounded Rectangle 4"/>
          <p:cNvSpPr/>
          <p:nvPr/>
        </p:nvSpPr>
        <p:spPr>
          <a:xfrm>
            <a:off x="1097280" y="4297680"/>
            <a:ext cx="2377440" cy="1371600"/>
          </a:xfrm>
          <a:prstGeom prst="roundRect">
            <a:avLst/>
          </a:prstGeom>
          <a:solidFill>
            <a:srgbClr val="1A26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97280" y="4297680"/>
            <a:ext cx="23774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4434840"/>
            <a:ext cx="2103120" cy="1097280"/>
          </a:xfrm>
          <a:prstGeom prst="rect">
            <a:avLst/>
          </a:prstGeom>
          <a:noFill/>
        </p:spPr>
        <p:txBody>
          <a:bodyPr wrap="square">
            <a:spAutoFit/>
          </a:bodyPr>
          <a:lstStyle/>
          <a:p>
            <a:pPr>
              <a:defRPr b="1" sz="1100">
                <a:solidFill>
                  <a:srgbClr val="2563EB"/>
                </a:solidFill>
              </a:defRPr>
            </a:pPr>
            <a:r>
              <a:t>1. REALITAS BISNIS</a:t>
            </a:r>
          </a:p>
          <a:p>
            <a:pPr>
              <a:defRPr sz="1100">
                <a:solidFill>
                  <a:srgbClr val="F8FAFC"/>
                </a:solidFill>
              </a:defRPr>
            </a:pPr>
            <a:r>
              <a:t>Observasi fakta &amp; aturan operasional</a:t>
            </a:r>
          </a:p>
        </p:txBody>
      </p:sp>
      <p:sp>
        <p:nvSpPr>
          <p:cNvPr id="8" name="Rounded Rectangle 7"/>
          <p:cNvSpPr/>
          <p:nvPr/>
        </p:nvSpPr>
        <p:spPr>
          <a:xfrm>
            <a:off x="3611880" y="4297680"/>
            <a:ext cx="2377440" cy="1371600"/>
          </a:xfrm>
          <a:prstGeom prst="roundRect">
            <a:avLst/>
          </a:prstGeom>
          <a:solidFill>
            <a:srgbClr val="1A26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11880" y="4297680"/>
            <a:ext cx="237744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0" y="4434840"/>
            <a:ext cx="2103120" cy="1097280"/>
          </a:xfrm>
          <a:prstGeom prst="rect">
            <a:avLst/>
          </a:prstGeom>
          <a:noFill/>
        </p:spPr>
        <p:txBody>
          <a:bodyPr wrap="square">
            <a:spAutoFit/>
          </a:bodyPr>
          <a:lstStyle/>
          <a:p>
            <a:pPr>
              <a:defRPr b="1" sz="1100">
                <a:solidFill>
                  <a:srgbClr val="0D9488"/>
                </a:solidFill>
              </a:defRPr>
            </a:pPr>
            <a:r>
              <a:t>2. KEBUTUHAN DATA</a:t>
            </a:r>
          </a:p>
          <a:p>
            <a:pPr>
              <a:defRPr sz="1100">
                <a:solidFill>
                  <a:srgbClr val="F8FAFC"/>
                </a:solidFill>
              </a:defRPr>
            </a:pPr>
            <a:r>
              <a:t>Spesifikasi entitas &amp; laporan sistem</a:t>
            </a:r>
          </a:p>
        </p:txBody>
      </p:sp>
      <p:sp>
        <p:nvSpPr>
          <p:cNvPr id="11" name="Rounded Rectangle 10"/>
          <p:cNvSpPr/>
          <p:nvPr/>
        </p:nvSpPr>
        <p:spPr>
          <a:xfrm>
            <a:off x="6126480" y="4297680"/>
            <a:ext cx="2377440" cy="1371600"/>
          </a:xfrm>
          <a:prstGeom prst="roundRect">
            <a:avLst/>
          </a:prstGeom>
          <a:solidFill>
            <a:srgbClr val="1A26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0" y="4297680"/>
            <a:ext cx="237744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4434840"/>
            <a:ext cx="2103120" cy="1097280"/>
          </a:xfrm>
          <a:prstGeom prst="rect">
            <a:avLst/>
          </a:prstGeom>
          <a:noFill/>
        </p:spPr>
        <p:txBody>
          <a:bodyPr wrap="square">
            <a:spAutoFit/>
          </a:bodyPr>
          <a:lstStyle/>
          <a:p>
            <a:pPr>
              <a:defRPr b="1" sz="1100">
                <a:solidFill>
                  <a:srgbClr val="D97706"/>
                </a:solidFill>
              </a:defRPr>
            </a:pPr>
            <a:r>
              <a:t>3. ER MODEL (ERD)</a:t>
            </a:r>
          </a:p>
          <a:p>
            <a:pPr>
              <a:defRPr sz="1100">
                <a:solidFill>
                  <a:srgbClr val="F8FAFC"/>
                </a:solidFill>
              </a:defRPr>
            </a:pPr>
            <a:r>
              <a:t>Cetak biru konseptual bebas DBMS</a:t>
            </a:r>
          </a:p>
        </p:txBody>
      </p:sp>
      <p:sp>
        <p:nvSpPr>
          <p:cNvPr id="14" name="Rounded Rectangle 13"/>
          <p:cNvSpPr/>
          <p:nvPr/>
        </p:nvSpPr>
        <p:spPr>
          <a:xfrm>
            <a:off x="8641080" y="4297680"/>
            <a:ext cx="2377440" cy="1371600"/>
          </a:xfrm>
          <a:prstGeom prst="roundRect">
            <a:avLst/>
          </a:prstGeom>
          <a:solidFill>
            <a:srgbClr val="1A26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41080" y="4297680"/>
            <a:ext cx="2377440"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4434840"/>
            <a:ext cx="2103120" cy="1097280"/>
          </a:xfrm>
          <a:prstGeom prst="rect">
            <a:avLst/>
          </a:prstGeom>
          <a:noFill/>
        </p:spPr>
        <p:txBody>
          <a:bodyPr wrap="square">
            <a:spAutoFit/>
          </a:bodyPr>
          <a:lstStyle/>
          <a:p>
            <a:pPr>
              <a:defRPr b="1" sz="1100">
                <a:solidFill>
                  <a:srgbClr val="EA580C"/>
                </a:solidFill>
              </a:defRPr>
            </a:pPr>
            <a:r>
              <a:t>4. BASIS DATA FISIK</a:t>
            </a:r>
          </a:p>
          <a:p>
            <a:pPr>
              <a:defRPr sz="1100">
                <a:solidFill>
                  <a:srgbClr val="F8FAFC"/>
                </a:solidFill>
              </a:defRPr>
            </a:pPr>
            <a:r>
              <a:t>Tabel relasional, index, dan SQL</a:t>
            </a:r>
          </a:p>
        </p:txBody>
      </p:sp>
      <p:sp>
        <p:nvSpPr>
          <p:cNvPr id="17" name="TextBox 16"/>
          <p:cNvSpPr txBox="1"/>
          <p:nvPr/>
        </p:nvSpPr>
        <p:spPr>
          <a:xfrm>
            <a:off x="731520" y="6309360"/>
            <a:ext cx="10728655" cy="274320"/>
          </a:xfrm>
          <a:prstGeom prst="rect">
            <a:avLst/>
          </a:prstGeom>
          <a:noFill/>
        </p:spPr>
        <p:txBody>
          <a:bodyPr wrap="square" lIns="0" rIns="0" tIns="0" bIns="0">
            <a:spAutoFit/>
          </a:bodyPr>
          <a:lstStyle/>
          <a:p>
            <a:pPr>
              <a:defRPr sz="950">
                <a:solidFill>
                  <a:srgbClr val="94A3B8"/>
                </a:solidFill>
                <a:latin typeface="Arial"/>
              </a:defRPr>
            </a:pPr>
            <a:r>
              <a:t>Basis Data · S1 Teknologi Informasi | Modul 02: Entity Relationship Diagram                         Slide 1 dari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Mengapa Kita Perlu Memodelkan Data?</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400"/>
              </a:spcAft>
              <a:defRPr b="1" sz="1400">
                <a:solidFill>
                  <a:srgbClr val="EA580C"/>
                </a:solidFill>
              </a:defRPr>
            </a:pPr>
            <a:r>
              <a:t>TANTANGAN OPERASIONAL DUNIA NYATA</a:t>
            </a:r>
          </a:p>
          <a:p>
            <a:pPr>
              <a:lnSpc>
                <a:spcPct val="115000"/>
              </a:lnSpc>
              <a:spcAft>
                <a:spcPts val="1200"/>
              </a:spcAft>
            </a:pPr>
            <a:r>
              <a:rPr b="1" sz="1300">
                <a:solidFill>
                  <a:srgbClr val="EA580C"/>
                </a:solidFill>
                <a:latin typeface="Arial"/>
              </a:rPr>
              <a:t>[Kompleksitas Hubungan]  </a:t>
            </a:r>
            <a:r>
              <a:rPr b="0" sz="1300">
                <a:solidFill>
                  <a:srgbClr val="0F172A"/>
                </a:solidFill>
                <a:latin typeface="Arial"/>
              </a:rPr>
              <a:t>Universitas mengelola ribuan mahasiswa, ratusan dosen, puluhan mata kuliah, dan rekap nilai secara bersamaan.</a:t>
            </a:r>
          </a:p>
          <a:p>
            <a:pPr>
              <a:lnSpc>
                <a:spcPct val="115000"/>
              </a:lnSpc>
              <a:spcAft>
                <a:spcPts val="1200"/>
              </a:spcAft>
            </a:pPr>
            <a:r>
              <a:rPr b="1" sz="1300">
                <a:solidFill>
                  <a:srgbClr val="EA580C"/>
                </a:solidFill>
                <a:latin typeface="Arial"/>
              </a:rPr>
              <a:t>[Risiko Tanpa Desain]  </a:t>
            </a:r>
            <a:r>
              <a:rPr b="0" sz="1300">
                <a:solidFill>
                  <a:srgbClr val="0F172A"/>
                </a:solidFill>
                <a:latin typeface="Arial"/>
              </a:rPr>
              <a:t>Membangun tabel langsung di DBMS tanpa model konseptual memicu duplikasi data, inkonsistensi nilai, dan integritas rusak.</a:t>
            </a:r>
          </a:p>
          <a:p>
            <a:pPr>
              <a:lnSpc>
                <a:spcPct val="115000"/>
              </a:lnSpc>
              <a:spcAft>
                <a:spcPts val="1200"/>
              </a:spcAft>
            </a:pPr>
            <a:r>
              <a:rPr b="1" sz="1300">
                <a:solidFill>
                  <a:srgbClr val="EA580C"/>
                </a:solidFill>
                <a:latin typeface="Arial"/>
              </a:rPr>
              <a:t>[Biaya Perbaikan Mahal]  </a:t>
            </a:r>
            <a:r>
              <a:rPr b="0" sz="1300">
                <a:solidFill>
                  <a:srgbClr val="0F172A"/>
                </a:solidFill>
                <a:latin typeface="Arial"/>
              </a:rPr>
              <a:t>Mengubah skema tabel di tengah sistem yang sudah berjalan (live production) jauh lebih mahal daripada merevisi blueprint ERD.</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114800"/>
          </a:xfrm>
          <a:prstGeom prst="rect">
            <a:avLst/>
          </a:prstGeom>
          <a:noFill/>
        </p:spPr>
        <p:txBody>
          <a:bodyPr wrap="square">
            <a:spAutoFit/>
          </a:bodyPr>
          <a:lstStyle/>
          <a:p>
            <a:pPr>
              <a:spcAft>
                <a:spcPts val="1400"/>
              </a:spcAft>
              <a:defRPr b="1" sz="1400">
                <a:solidFill>
                  <a:srgbClr val="2563EB"/>
                </a:solidFill>
              </a:defRPr>
            </a:pPr>
            <a:r>
              <a:t>PRINSIP UTAMA ERD SEBAGAI CETAK BIRU</a:t>
            </a:r>
          </a:p>
          <a:p>
            <a:pPr>
              <a:lnSpc>
                <a:spcPct val="115000"/>
              </a:lnSpc>
              <a:spcAft>
                <a:spcPts val="1200"/>
              </a:spcAft>
            </a:pPr>
            <a:r>
              <a:rPr b="1" sz="1300">
                <a:solidFill>
                  <a:srgbClr val="2563EB"/>
                </a:solidFill>
                <a:latin typeface="Arial"/>
              </a:rPr>
              <a:t>[Bukan Database Fisik]  </a:t>
            </a:r>
            <a:r>
              <a:rPr b="0" sz="1300">
                <a:solidFill>
                  <a:srgbClr val="0F172A"/>
                </a:solidFill>
                <a:latin typeface="Arial"/>
              </a:rPr>
              <a:t>ERD adalah representasi logis independen. ERD tidak membicarakan sintaks MySQL, Oracle, atau tipe storage hard drive.</a:t>
            </a:r>
          </a:p>
          <a:p>
            <a:pPr>
              <a:lnSpc>
                <a:spcPct val="115000"/>
              </a:lnSpc>
              <a:spcAft>
                <a:spcPts val="1200"/>
              </a:spcAft>
            </a:pPr>
            <a:r>
              <a:rPr b="1" sz="1300">
                <a:solidFill>
                  <a:srgbClr val="2563EB"/>
                </a:solidFill>
                <a:latin typeface="Arial"/>
              </a:rPr>
              <a:t>[Jembatan Komunikasi]  </a:t>
            </a:r>
            <a:r>
              <a:rPr b="0" sz="1300">
                <a:solidFill>
                  <a:srgbClr val="0F172A"/>
                </a:solidFill>
                <a:latin typeface="Arial"/>
              </a:rPr>
              <a:t>Menjadi media pemahaman antara stakeholder bisnis (manajemen, rektorat) dengan software engineer &amp; database administrator.</a:t>
            </a:r>
          </a:p>
          <a:p>
            <a:pPr>
              <a:lnSpc>
                <a:spcPct val="115000"/>
              </a:lnSpc>
              <a:spcAft>
                <a:spcPts val="1200"/>
              </a:spcAft>
            </a:pPr>
            <a:r>
              <a:rPr b="1" sz="1300">
                <a:solidFill>
                  <a:srgbClr val="2563EB"/>
                </a:solidFill>
                <a:latin typeface="Arial"/>
              </a:rPr>
              <a:t>[Arah Transformasi]  </a:t>
            </a:r>
            <a:r>
              <a:rPr b="0" sz="1300">
                <a:solidFill>
                  <a:srgbClr val="0F172A"/>
                </a:solidFill>
                <a:latin typeface="Arial"/>
              </a:rPr>
              <a:t>Realitas Bisnis  ──&gt;  Kebutuhan Informasi  ──&gt;  ER Model (Konseptual)  ──&gt;  Skema Fisik Relasional.</a:t>
            </a:r>
          </a:p>
        </p:txBody>
      </p:sp>
      <p:sp>
        <p:nvSpPr>
          <p:cNvPr id="10" name="TextBox 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2 dari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Dari Narasi Operasional Menjadi Elemen Model Data</a:t>
            </a:r>
          </a:p>
        </p:txBody>
      </p:sp>
      <p:sp>
        <p:nvSpPr>
          <p:cNvPr id="4" name="Rounded Rectangle 3"/>
          <p:cNvSpPr/>
          <p:nvPr/>
        </p:nvSpPr>
        <p:spPr>
          <a:xfrm>
            <a:off x="731520" y="146304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822960"/>
          </a:xfrm>
          <a:prstGeom prst="rect">
            <a:avLst/>
          </a:prstGeom>
          <a:noFill/>
        </p:spPr>
        <p:txBody>
          <a:bodyPr wrap="square">
            <a:spAutoFit/>
          </a:bodyPr>
          <a:lstStyle/>
          <a:p>
            <a:pPr>
              <a:defRPr b="1" sz="1100">
                <a:solidFill>
                  <a:srgbClr val="0D9488"/>
                </a:solidFill>
              </a:defRPr>
            </a:pPr>
            <a:r>
              <a:t>NARASI BISNIS (STUDI KASUS AKADEMIK):</a:t>
            </a:r>
          </a:p>
          <a:p>
            <a:pPr>
              <a:defRPr sz="1400">
                <a:solidFill>
                  <a:srgbClr val="0F172A"/>
                </a:solidFill>
              </a:defRPr>
            </a:pPr>
            <a:r>
              <a:t>"Mahasiswa terdaftar mengambil beberapa mata kuliah yang diajar oleh dosen pengampu. Setiap mahasiswa memperoleh nilai pada semester aktif."</a:t>
            </a:r>
          </a:p>
        </p:txBody>
      </p:sp>
      <p:sp>
        <p:nvSpPr>
          <p:cNvPr id="7" name="Rounded Rectangle 6"/>
          <p:cNvSpPr/>
          <p:nvPr/>
        </p:nvSpPr>
        <p:spPr>
          <a:xfrm>
            <a:off x="731520" y="2743200"/>
            <a:ext cx="2542032"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743200"/>
            <a:ext cx="25420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80360"/>
            <a:ext cx="2267712" cy="3017520"/>
          </a:xfrm>
          <a:prstGeom prst="rect">
            <a:avLst/>
          </a:prstGeom>
          <a:noFill/>
        </p:spPr>
        <p:txBody>
          <a:bodyPr wrap="square">
            <a:spAutoFit/>
          </a:bodyPr>
          <a:lstStyle/>
          <a:p>
            <a:pPr>
              <a:defRPr b="1" sz="1000">
                <a:solidFill>
                  <a:srgbClr val="64748B"/>
                </a:solidFill>
              </a:defRPr>
            </a:pPr>
            <a:r>
              <a:t>KATA BENDA</a:t>
            </a:r>
          </a:p>
          <a:p>
            <a:pPr>
              <a:spcAft>
                <a:spcPts val="1000"/>
              </a:spcAft>
              <a:defRPr b="1" sz="1800">
                <a:solidFill>
                  <a:srgbClr val="2563EB"/>
                </a:solidFill>
              </a:defRPr>
            </a:pPr>
            <a:r>
              <a:t>ENTITY</a:t>
            </a:r>
          </a:p>
          <a:p>
            <a:pPr>
              <a:defRPr b="1" sz="1100">
                <a:solidFill>
                  <a:srgbClr val="0F172A"/>
                </a:solidFill>
              </a:defRPr>
            </a:pPr>
            <a:r>
              <a:t>Deskripsi:</a:t>
            </a:r>
          </a:p>
          <a:p>
            <a:pPr>
              <a:spcAft>
                <a:spcPts val="800"/>
              </a:spcAft>
              <a:defRPr sz="1200">
                <a:solidFill>
                  <a:srgbClr val="64748B"/>
                </a:solidFill>
              </a:defRPr>
            </a:pPr>
            <a:r>
              <a:t>Objek mandiri yang informasinya wajib disimpan.</a:t>
            </a:r>
          </a:p>
          <a:p>
            <a:pPr>
              <a:defRPr b="1" sz="1100">
                <a:solidFill>
                  <a:srgbClr val="0F172A"/>
                </a:solidFill>
              </a:defRPr>
            </a:pPr>
            <a:r>
              <a:t>Contoh Nyata:</a:t>
            </a:r>
          </a:p>
          <a:p>
            <a:pPr>
              <a:defRPr sz="1200">
                <a:solidFill>
                  <a:srgbClr val="2563EB"/>
                </a:solidFill>
              </a:defRPr>
            </a:pPr>
            <a:r>
              <a:t>MAHASISWA, DOSEN, MATA_KULIAH</a:t>
            </a:r>
          </a:p>
        </p:txBody>
      </p:sp>
      <p:sp>
        <p:nvSpPr>
          <p:cNvPr id="10" name="Rounded Rectangle 9"/>
          <p:cNvSpPr/>
          <p:nvPr/>
        </p:nvSpPr>
        <p:spPr>
          <a:xfrm>
            <a:off x="3456432" y="2743200"/>
            <a:ext cx="2542032"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56432" y="2743200"/>
            <a:ext cx="25420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880360"/>
            <a:ext cx="2267712" cy="3017520"/>
          </a:xfrm>
          <a:prstGeom prst="rect">
            <a:avLst/>
          </a:prstGeom>
          <a:noFill/>
        </p:spPr>
        <p:txBody>
          <a:bodyPr wrap="square">
            <a:spAutoFit/>
          </a:bodyPr>
          <a:lstStyle/>
          <a:p>
            <a:pPr>
              <a:defRPr b="1" sz="1000">
                <a:solidFill>
                  <a:srgbClr val="64748B"/>
                </a:solidFill>
              </a:defRPr>
            </a:pPr>
            <a:r>
              <a:t>KATA SIFAT / CIRI</a:t>
            </a:r>
          </a:p>
          <a:p>
            <a:pPr>
              <a:spcAft>
                <a:spcPts val="1000"/>
              </a:spcAft>
              <a:defRPr b="1" sz="1800">
                <a:solidFill>
                  <a:srgbClr val="0D9488"/>
                </a:solidFill>
              </a:defRPr>
            </a:pPr>
            <a:r>
              <a:t>ATTRIBUTE</a:t>
            </a:r>
          </a:p>
          <a:p>
            <a:pPr>
              <a:defRPr b="1" sz="1100">
                <a:solidFill>
                  <a:srgbClr val="0F172A"/>
                </a:solidFill>
              </a:defRPr>
            </a:pPr>
            <a:r>
              <a:t>Deskripsi:</a:t>
            </a:r>
          </a:p>
          <a:p>
            <a:pPr>
              <a:spcAft>
                <a:spcPts val="800"/>
              </a:spcAft>
              <a:defRPr sz="1200">
                <a:solidFill>
                  <a:srgbClr val="64748B"/>
                </a:solidFill>
              </a:defRPr>
            </a:pPr>
            <a:r>
              <a:t>Properti yang mendeskripsikan ciri suatu entitas.</a:t>
            </a:r>
          </a:p>
          <a:p>
            <a:pPr>
              <a:defRPr b="1" sz="1100">
                <a:solidFill>
                  <a:srgbClr val="0F172A"/>
                </a:solidFill>
              </a:defRPr>
            </a:pPr>
            <a:r>
              <a:t>Contoh Nyata:</a:t>
            </a:r>
          </a:p>
          <a:p>
            <a:pPr>
              <a:defRPr sz="1200">
                <a:solidFill>
                  <a:srgbClr val="0D9488"/>
                </a:solidFill>
              </a:defRPr>
            </a:pPr>
            <a:r>
              <a:t>NIM, Nama, SKS, NilaiAkhir</a:t>
            </a:r>
          </a:p>
        </p:txBody>
      </p:sp>
      <p:sp>
        <p:nvSpPr>
          <p:cNvPr id="13" name="Rounded Rectangle 12"/>
          <p:cNvSpPr/>
          <p:nvPr/>
        </p:nvSpPr>
        <p:spPr>
          <a:xfrm>
            <a:off x="6181344" y="2743200"/>
            <a:ext cx="2542032"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81344" y="2743200"/>
            <a:ext cx="2542032"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2880360"/>
            <a:ext cx="2267712" cy="3017520"/>
          </a:xfrm>
          <a:prstGeom prst="rect">
            <a:avLst/>
          </a:prstGeom>
          <a:noFill/>
        </p:spPr>
        <p:txBody>
          <a:bodyPr wrap="square">
            <a:spAutoFit/>
          </a:bodyPr>
          <a:lstStyle/>
          <a:p>
            <a:pPr>
              <a:defRPr b="1" sz="1000">
                <a:solidFill>
                  <a:srgbClr val="64748B"/>
                </a:solidFill>
              </a:defRPr>
            </a:pPr>
            <a:r>
              <a:t>KATA KERJA</a:t>
            </a:r>
          </a:p>
          <a:p>
            <a:pPr>
              <a:spcAft>
                <a:spcPts val="1000"/>
              </a:spcAft>
              <a:defRPr b="1" sz="1800">
                <a:solidFill>
                  <a:srgbClr val="D97706"/>
                </a:solidFill>
              </a:defRPr>
            </a:pPr>
            <a:r>
              <a:t>RELATIONSHIP</a:t>
            </a:r>
          </a:p>
          <a:p>
            <a:pPr>
              <a:defRPr b="1" sz="1100">
                <a:solidFill>
                  <a:srgbClr val="0F172A"/>
                </a:solidFill>
              </a:defRPr>
            </a:pPr>
            <a:r>
              <a:t>Deskripsi:</a:t>
            </a:r>
          </a:p>
          <a:p>
            <a:pPr>
              <a:spcAft>
                <a:spcPts val="800"/>
              </a:spcAft>
              <a:defRPr sz="1200">
                <a:solidFill>
                  <a:srgbClr val="64748B"/>
                </a:solidFill>
              </a:defRPr>
            </a:pPr>
            <a:r>
              <a:t>Asosiasi bermakna yang menghubungkan antar-entitas.</a:t>
            </a:r>
          </a:p>
          <a:p>
            <a:pPr>
              <a:defRPr b="1" sz="1100">
                <a:solidFill>
                  <a:srgbClr val="0F172A"/>
                </a:solidFill>
              </a:defRPr>
            </a:pPr>
            <a:r>
              <a:t>Contoh Nyata:</a:t>
            </a:r>
          </a:p>
          <a:p>
            <a:pPr>
              <a:defRPr sz="1200">
                <a:solidFill>
                  <a:srgbClr val="D97706"/>
                </a:solidFill>
              </a:defRPr>
            </a:pPr>
            <a:r>
              <a:t>mengambil, mengajar</a:t>
            </a:r>
          </a:p>
        </p:txBody>
      </p:sp>
      <p:sp>
        <p:nvSpPr>
          <p:cNvPr id="16" name="Rounded Rectangle 15"/>
          <p:cNvSpPr/>
          <p:nvPr/>
        </p:nvSpPr>
        <p:spPr>
          <a:xfrm>
            <a:off x="8906256" y="2743200"/>
            <a:ext cx="2542032" cy="3291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06256" y="2743200"/>
            <a:ext cx="2542032"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2880360"/>
            <a:ext cx="2267712" cy="3017520"/>
          </a:xfrm>
          <a:prstGeom prst="rect">
            <a:avLst/>
          </a:prstGeom>
          <a:noFill/>
        </p:spPr>
        <p:txBody>
          <a:bodyPr wrap="square">
            <a:spAutoFit/>
          </a:bodyPr>
          <a:lstStyle/>
          <a:p>
            <a:pPr>
              <a:defRPr b="1" sz="1000">
                <a:solidFill>
                  <a:srgbClr val="64748B"/>
                </a:solidFill>
              </a:defRPr>
            </a:pPr>
            <a:r>
              <a:t>KUANTITAS</a:t>
            </a:r>
          </a:p>
          <a:p>
            <a:pPr>
              <a:spcAft>
                <a:spcPts val="1000"/>
              </a:spcAft>
              <a:defRPr b="1" sz="1800">
                <a:solidFill>
                  <a:srgbClr val="EA580C"/>
                </a:solidFill>
              </a:defRPr>
            </a:pPr>
            <a:r>
              <a:t>CARDINALITY</a:t>
            </a:r>
          </a:p>
          <a:p>
            <a:pPr>
              <a:defRPr b="1" sz="1100">
                <a:solidFill>
                  <a:srgbClr val="0F172A"/>
                </a:solidFill>
              </a:defRPr>
            </a:pPr>
            <a:r>
              <a:t>Deskripsi:</a:t>
            </a:r>
          </a:p>
          <a:p>
            <a:pPr>
              <a:spcAft>
                <a:spcPts val="800"/>
              </a:spcAft>
              <a:defRPr sz="1200">
                <a:solidFill>
                  <a:srgbClr val="64748B"/>
                </a:solidFill>
              </a:defRPr>
            </a:pPr>
            <a:r>
              <a:t>Batasan jumlah keterlibatan instansi dalam relasi.</a:t>
            </a:r>
          </a:p>
          <a:p>
            <a:pPr>
              <a:defRPr b="1" sz="1100">
                <a:solidFill>
                  <a:srgbClr val="0F172A"/>
                </a:solidFill>
              </a:defRPr>
            </a:pPr>
            <a:r>
              <a:t>Contoh Nyata:</a:t>
            </a:r>
          </a:p>
          <a:p>
            <a:pPr>
              <a:defRPr sz="1200">
                <a:solidFill>
                  <a:srgbClr val="EA580C"/>
                </a:solidFill>
              </a:defRPr>
            </a:pPr>
            <a:r>
              <a:t>1 Dosen mengajar N Matakuliah</a:t>
            </a:r>
          </a:p>
        </p:txBody>
      </p:sp>
      <p:sp>
        <p:nvSpPr>
          <p:cNvPr id="19" name="TextBox 18"/>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3 dari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Enam Pilar Fundamental Model Data Konseptual</a:t>
            </a:r>
          </a:p>
        </p:txBody>
      </p:sp>
      <p:sp>
        <p:nvSpPr>
          <p:cNvPr id="4" name="Rounded Rectangle 3"/>
          <p:cNvSpPr/>
          <p:nvPr/>
        </p:nvSpPr>
        <p:spPr>
          <a:xfrm>
            <a:off x="731520"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27632"/>
            <a:ext cx="3090672" cy="1737360"/>
          </a:xfrm>
          <a:prstGeom prst="rect">
            <a:avLst/>
          </a:prstGeom>
          <a:noFill/>
        </p:spPr>
        <p:txBody>
          <a:bodyPr wrap="square">
            <a:spAutoFit/>
          </a:bodyPr>
          <a:lstStyle/>
          <a:p>
            <a:pPr>
              <a:spcAft>
                <a:spcPts val="600"/>
              </a:spcAft>
              <a:defRPr b="1" sz="1400">
                <a:solidFill>
                  <a:srgbClr val="2563EB"/>
                </a:solidFill>
              </a:defRPr>
            </a:pPr>
            <a:r>
              <a:t>1. ENTITY</a:t>
            </a:r>
          </a:p>
          <a:p>
            <a:pPr>
              <a:spcAft>
                <a:spcPts val="600"/>
              </a:spcAft>
              <a:defRPr sz="1250">
                <a:solidFill>
                  <a:srgbClr val="0F172A"/>
                </a:solidFill>
              </a:defRPr>
            </a:pPr>
            <a:r>
              <a:t>Objek dapat dibedakan yang datanya wajib disimpan sistem.</a:t>
            </a:r>
          </a:p>
          <a:p>
            <a:pPr>
              <a:defRPr sz="1150" b="1">
                <a:solidFill>
                  <a:srgbClr val="64748B"/>
                </a:solidFill>
              </a:defRPr>
            </a:pPr>
            <a:r>
              <a:t>Contoh: MAHASISWA, PASIEN</a:t>
            </a:r>
          </a:p>
        </p:txBody>
      </p:sp>
      <p:sp>
        <p:nvSpPr>
          <p:cNvPr id="7" name="Rounded Rectangle 6"/>
          <p:cNvSpPr/>
          <p:nvPr/>
        </p:nvSpPr>
        <p:spPr>
          <a:xfrm>
            <a:off x="4370832"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0832" y="146304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627632"/>
            <a:ext cx="3090672" cy="1737360"/>
          </a:xfrm>
          <a:prstGeom prst="rect">
            <a:avLst/>
          </a:prstGeom>
          <a:noFill/>
        </p:spPr>
        <p:txBody>
          <a:bodyPr wrap="square">
            <a:spAutoFit/>
          </a:bodyPr>
          <a:lstStyle/>
          <a:p>
            <a:pPr>
              <a:spcAft>
                <a:spcPts val="600"/>
              </a:spcAft>
              <a:defRPr b="1" sz="1400">
                <a:solidFill>
                  <a:srgbClr val="0D9488"/>
                </a:solidFill>
              </a:defRPr>
            </a:pPr>
            <a:r>
              <a:t>2. ATTRIBUTE</a:t>
            </a:r>
          </a:p>
          <a:p>
            <a:pPr>
              <a:spcAft>
                <a:spcPts val="600"/>
              </a:spcAft>
              <a:defRPr sz="1250">
                <a:solidFill>
                  <a:srgbClr val="0F172A"/>
                </a:solidFill>
              </a:defRPr>
            </a:pPr>
            <a:r>
              <a:t>Karakteristik atau properti penjelas yang melekat pada entitas.</a:t>
            </a:r>
          </a:p>
          <a:p>
            <a:pPr>
              <a:defRPr sz="1150" b="1">
                <a:solidFill>
                  <a:srgbClr val="64748B"/>
                </a:solidFill>
              </a:defRPr>
            </a:pPr>
            <a:r>
              <a:t>Contoh: NIM, TanggalLahir, SKS</a:t>
            </a:r>
          </a:p>
        </p:txBody>
      </p:sp>
      <p:sp>
        <p:nvSpPr>
          <p:cNvPr id="10" name="Rounded Rectangle 9"/>
          <p:cNvSpPr/>
          <p:nvPr/>
        </p:nvSpPr>
        <p:spPr>
          <a:xfrm>
            <a:off x="8010144"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10144" y="1463040"/>
            <a:ext cx="3456432"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1627632"/>
            <a:ext cx="3090672" cy="1737360"/>
          </a:xfrm>
          <a:prstGeom prst="rect">
            <a:avLst/>
          </a:prstGeom>
          <a:noFill/>
        </p:spPr>
        <p:txBody>
          <a:bodyPr wrap="square">
            <a:spAutoFit/>
          </a:bodyPr>
          <a:lstStyle/>
          <a:p>
            <a:pPr>
              <a:spcAft>
                <a:spcPts val="600"/>
              </a:spcAft>
              <a:defRPr b="1" sz="1400">
                <a:solidFill>
                  <a:srgbClr val="D97706"/>
                </a:solidFill>
              </a:defRPr>
            </a:pPr>
            <a:r>
              <a:t>3. RELATIONSHIP</a:t>
            </a:r>
          </a:p>
          <a:p>
            <a:pPr>
              <a:spcAft>
                <a:spcPts val="600"/>
              </a:spcAft>
              <a:defRPr sz="1250">
                <a:solidFill>
                  <a:srgbClr val="0F172A"/>
                </a:solidFill>
              </a:defRPr>
            </a:pPr>
            <a:r>
              <a:t>Keterhubungan bermakna antara dua atau lebih tipe entitas.</a:t>
            </a:r>
          </a:p>
          <a:p>
            <a:pPr>
              <a:defRPr sz="1150" b="1">
                <a:solidFill>
                  <a:srgbClr val="64748B"/>
                </a:solidFill>
              </a:defRPr>
            </a:pPr>
            <a:r>
              <a:t>Contoh: mengambil, merawat</a:t>
            </a:r>
          </a:p>
        </p:txBody>
      </p:sp>
      <p:sp>
        <p:nvSpPr>
          <p:cNvPr id="13" name="Rounded Rectangle 12"/>
          <p:cNvSpPr/>
          <p:nvPr/>
        </p:nvSpPr>
        <p:spPr>
          <a:xfrm>
            <a:off x="731520"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703320"/>
            <a:ext cx="3456432"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67912"/>
            <a:ext cx="3090672" cy="1737360"/>
          </a:xfrm>
          <a:prstGeom prst="rect">
            <a:avLst/>
          </a:prstGeom>
          <a:noFill/>
        </p:spPr>
        <p:txBody>
          <a:bodyPr wrap="square">
            <a:spAutoFit/>
          </a:bodyPr>
          <a:lstStyle/>
          <a:p>
            <a:pPr>
              <a:spcAft>
                <a:spcPts val="600"/>
              </a:spcAft>
              <a:defRPr b="1" sz="1400">
                <a:solidFill>
                  <a:srgbClr val="EA580C"/>
                </a:solidFill>
              </a:defRPr>
            </a:pPr>
            <a:r>
              <a:t>4. IDENTIFIER / KEY</a:t>
            </a:r>
          </a:p>
          <a:p>
            <a:pPr>
              <a:spcAft>
                <a:spcPts val="600"/>
              </a:spcAft>
              <a:defRPr sz="1250">
                <a:solidFill>
                  <a:srgbClr val="0F172A"/>
                </a:solidFill>
              </a:defRPr>
            </a:pPr>
            <a:r>
              <a:t>Atribut penanda unik mutlak untuk membedakan tiap baris data.</a:t>
            </a:r>
          </a:p>
          <a:p>
            <a:pPr>
              <a:defRPr sz="1150" b="1">
                <a:solidFill>
                  <a:srgbClr val="64748B"/>
                </a:solidFill>
              </a:defRPr>
            </a:pPr>
            <a:r>
              <a:t>Contoh: NIM unik, KodeMK</a:t>
            </a:r>
          </a:p>
        </p:txBody>
      </p:sp>
      <p:sp>
        <p:nvSpPr>
          <p:cNvPr id="16" name="Rounded Rectangle 15"/>
          <p:cNvSpPr/>
          <p:nvPr/>
        </p:nvSpPr>
        <p:spPr>
          <a:xfrm>
            <a:off x="4370832"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70832" y="370332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3867912"/>
            <a:ext cx="3090672" cy="1737360"/>
          </a:xfrm>
          <a:prstGeom prst="rect">
            <a:avLst/>
          </a:prstGeom>
          <a:noFill/>
        </p:spPr>
        <p:txBody>
          <a:bodyPr wrap="square">
            <a:spAutoFit/>
          </a:bodyPr>
          <a:lstStyle/>
          <a:p>
            <a:pPr>
              <a:spcAft>
                <a:spcPts val="600"/>
              </a:spcAft>
              <a:defRPr b="1" sz="1400">
                <a:solidFill>
                  <a:srgbClr val="2563EB"/>
                </a:solidFill>
              </a:defRPr>
            </a:pPr>
            <a:r>
              <a:t>5. DOMAIN</a:t>
            </a:r>
          </a:p>
          <a:p>
            <a:pPr>
              <a:spcAft>
                <a:spcPts val="600"/>
              </a:spcAft>
              <a:defRPr sz="1250">
                <a:solidFill>
                  <a:srgbClr val="0F172A"/>
                </a:solidFill>
              </a:defRPr>
            </a:pPr>
            <a:r>
              <a:t>Himpunan semesta nilai sah yang diizinkan untuk suatu atribut.</a:t>
            </a:r>
          </a:p>
          <a:p>
            <a:pPr>
              <a:defRPr sz="1150" b="1">
                <a:solidFill>
                  <a:srgbClr val="64748B"/>
                </a:solidFill>
              </a:defRPr>
            </a:pPr>
            <a:r>
              <a:t>Contoh: SKS = {1, 2, 3, 4, 6}</a:t>
            </a:r>
          </a:p>
        </p:txBody>
      </p:sp>
      <p:sp>
        <p:nvSpPr>
          <p:cNvPr id="19" name="Rounded Rectangle 18"/>
          <p:cNvSpPr/>
          <p:nvPr/>
        </p:nvSpPr>
        <p:spPr>
          <a:xfrm>
            <a:off x="8010144"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10144" y="370332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3867912"/>
            <a:ext cx="3090672" cy="1737360"/>
          </a:xfrm>
          <a:prstGeom prst="rect">
            <a:avLst/>
          </a:prstGeom>
          <a:noFill/>
        </p:spPr>
        <p:txBody>
          <a:bodyPr wrap="square">
            <a:spAutoFit/>
          </a:bodyPr>
          <a:lstStyle/>
          <a:p>
            <a:pPr>
              <a:spcAft>
                <a:spcPts val="600"/>
              </a:spcAft>
              <a:defRPr b="1" sz="1400">
                <a:solidFill>
                  <a:srgbClr val="0D9488"/>
                </a:solidFill>
              </a:defRPr>
            </a:pPr>
            <a:r>
              <a:t>6. CARDINALITY</a:t>
            </a:r>
          </a:p>
          <a:p>
            <a:pPr>
              <a:spcAft>
                <a:spcPts val="600"/>
              </a:spcAft>
              <a:defRPr sz="1250">
                <a:solidFill>
                  <a:srgbClr val="0F172A"/>
                </a:solidFill>
              </a:defRPr>
            </a:pPr>
            <a:r>
              <a:t>Rasio kuantitas keterlibatan instansi dalam suatu relasi.</a:t>
            </a:r>
          </a:p>
          <a:p>
            <a:pPr>
              <a:defRPr sz="1150" b="1">
                <a:solidFill>
                  <a:srgbClr val="64748B"/>
                </a:solidFill>
              </a:defRPr>
            </a:pPr>
            <a:r>
              <a:t>Contoh: 1:1, 1:N, atau M:N</a:t>
            </a:r>
          </a:p>
        </p:txBody>
      </p:sp>
      <p:sp>
        <p:nvSpPr>
          <p:cNvPr id="22" name="TextBox 21"/>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4 dari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Konsep Entitas: Tipe Entitas vs Instansi Entitas</a:t>
            </a:r>
          </a:p>
        </p:txBody>
      </p:sp>
      <p:sp>
        <p:nvSpPr>
          <p:cNvPr id="4" name="Rounded Rectangle 3"/>
          <p:cNvSpPr/>
          <p:nvPr/>
        </p:nvSpPr>
        <p:spPr>
          <a:xfrm>
            <a:off x="731520" y="1463040"/>
            <a:ext cx="1069848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914400"/>
          </a:xfrm>
          <a:prstGeom prst="rect">
            <a:avLst/>
          </a:prstGeom>
          <a:noFill/>
        </p:spPr>
        <p:txBody>
          <a:bodyPr wrap="square">
            <a:spAutoFit/>
          </a:bodyPr>
          <a:lstStyle/>
          <a:p>
            <a:pPr>
              <a:defRPr b="1" sz="1100">
                <a:solidFill>
                  <a:srgbClr val="2563EB"/>
                </a:solidFill>
              </a:defRPr>
            </a:pPr>
            <a:r>
              <a:t>PERTANYAAN DIAGNOSTIK UTAMA PEMODELAN DATA:</a:t>
            </a:r>
          </a:p>
          <a:p>
            <a:pPr>
              <a:defRPr b="1" sz="1500">
                <a:solidFill>
                  <a:srgbClr val="0F172A"/>
                </a:solidFill>
              </a:defRPr>
            </a:pPr>
            <a:r>
              <a:t>"Apakah objek ini memiliki fakta/informasi jamak yang wajib dilacak secara mandiri oleh sistem?"</a:t>
            </a:r>
          </a:p>
          <a:p>
            <a:pPr>
              <a:defRPr sz="1200">
                <a:solidFill>
                  <a:srgbClr val="0D9488"/>
                </a:solidFill>
              </a:defRPr>
            </a:pPr>
            <a:r>
              <a:t>• Jika YA -&gt; Objek adalah kandidat kuat ENTITAS.   |   • Jika TIDAK (hanya 1 nilai tunggal) -&gt; Objek hanyalah ATRIBUT.</a:t>
            </a:r>
          </a:p>
        </p:txBody>
      </p:sp>
      <p:sp>
        <p:nvSpPr>
          <p:cNvPr id="7" name="Rounded Rectangle 6"/>
          <p:cNvSpPr/>
          <p:nvPr/>
        </p:nvSpPr>
        <p:spPr>
          <a:xfrm>
            <a:off x="731520" y="2834640"/>
            <a:ext cx="512064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8346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017520"/>
            <a:ext cx="4572000" cy="2834640"/>
          </a:xfrm>
          <a:prstGeom prst="rect">
            <a:avLst/>
          </a:prstGeom>
          <a:noFill/>
        </p:spPr>
        <p:txBody>
          <a:bodyPr wrap="square">
            <a:spAutoFit/>
          </a:bodyPr>
          <a:lstStyle/>
          <a:p>
            <a:pPr>
              <a:spcAft>
                <a:spcPts val="1000"/>
              </a:spcAft>
              <a:defRPr b="1" sz="1400">
                <a:solidFill>
                  <a:srgbClr val="2563EB"/>
                </a:solidFill>
              </a:defRPr>
            </a:pPr>
            <a:r>
              <a:t>ENTITY TYPE (TIPE ENTITAS)</a:t>
            </a:r>
          </a:p>
          <a:p>
            <a:pPr>
              <a:lnSpc>
                <a:spcPct val="115000"/>
              </a:lnSpc>
              <a:spcAft>
                <a:spcPts val="800"/>
              </a:spcAft>
            </a:pPr>
            <a:r>
              <a:rPr b="1" sz="1300">
                <a:solidFill>
                  <a:srgbClr val="2563EB"/>
                </a:solidFill>
                <a:latin typeface="Arial"/>
              </a:rPr>
              <a:t>[Definisi]  </a:t>
            </a:r>
            <a:r>
              <a:rPr b="0" sz="1300">
                <a:solidFill>
                  <a:srgbClr val="0F172A"/>
                </a:solidFill>
                <a:latin typeface="Arial"/>
              </a:rPr>
              <a:t>Kategori konseptual atau blueprint yang mendefinisikan kumpulan atribut yang sama.</a:t>
            </a:r>
          </a:p>
          <a:p>
            <a:pPr>
              <a:lnSpc>
                <a:spcPct val="115000"/>
              </a:lnSpc>
              <a:spcAft>
                <a:spcPts val="800"/>
              </a:spcAft>
            </a:pPr>
            <a:r>
              <a:rPr b="1" sz="1300">
                <a:solidFill>
                  <a:srgbClr val="2563EB"/>
                </a:solidFill>
                <a:latin typeface="Arial"/>
              </a:rPr>
              <a:t>[Analogi OOP]  </a:t>
            </a:r>
            <a:r>
              <a:rPr b="0" sz="1300">
                <a:solidFill>
                  <a:srgbClr val="0F172A"/>
                </a:solidFill>
                <a:latin typeface="Arial"/>
              </a:rPr>
              <a:t>Sama dengan konsep CLASS dalam pemrograman berorientasi objek.</a:t>
            </a:r>
          </a:p>
          <a:p>
            <a:pPr>
              <a:lnSpc>
                <a:spcPct val="115000"/>
              </a:lnSpc>
              <a:spcAft>
                <a:spcPts val="800"/>
              </a:spcAft>
            </a:pPr>
            <a:r>
              <a:rPr b="1" sz="1300">
                <a:solidFill>
                  <a:srgbClr val="2563EB"/>
                </a:solidFill>
                <a:latin typeface="Arial"/>
              </a:rPr>
              <a:t>[Contoh]  </a:t>
            </a:r>
            <a:r>
              <a:rPr b="0" sz="1300">
                <a:solidFill>
                  <a:srgbClr val="0F172A"/>
                </a:solidFill>
                <a:latin typeface="Arial"/>
              </a:rPr>
              <a:t>MAHASISWA, DOSEN, MATA_KULIAH, PASIEN.</a:t>
            </a:r>
          </a:p>
        </p:txBody>
      </p:sp>
      <p:sp>
        <p:nvSpPr>
          <p:cNvPr id="10" name="Rounded Rectangle 9"/>
          <p:cNvSpPr/>
          <p:nvPr/>
        </p:nvSpPr>
        <p:spPr>
          <a:xfrm>
            <a:off x="6217920" y="2834640"/>
            <a:ext cx="52120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2834640"/>
            <a:ext cx="52120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017520"/>
            <a:ext cx="4663440" cy="2834640"/>
          </a:xfrm>
          <a:prstGeom prst="rect">
            <a:avLst/>
          </a:prstGeom>
          <a:noFill/>
        </p:spPr>
        <p:txBody>
          <a:bodyPr wrap="square">
            <a:spAutoFit/>
          </a:bodyPr>
          <a:lstStyle/>
          <a:p>
            <a:pPr>
              <a:spcAft>
                <a:spcPts val="1000"/>
              </a:spcAft>
              <a:defRPr b="1" sz="1400">
                <a:solidFill>
                  <a:srgbClr val="0D9488"/>
                </a:solidFill>
              </a:defRPr>
            </a:pPr>
            <a:r>
              <a:t>ENTITY INSTANCE (OCCURRENCE)</a:t>
            </a:r>
          </a:p>
          <a:p>
            <a:pPr>
              <a:lnSpc>
                <a:spcPct val="115000"/>
              </a:lnSpc>
              <a:spcAft>
                <a:spcPts val="800"/>
              </a:spcAft>
            </a:pPr>
            <a:r>
              <a:rPr b="1" sz="1300">
                <a:solidFill>
                  <a:srgbClr val="0D9488"/>
                </a:solidFill>
                <a:latin typeface="Arial"/>
              </a:rPr>
              <a:t>[Definisi]  </a:t>
            </a:r>
            <a:r>
              <a:rPr b="0" sz="1300">
                <a:solidFill>
                  <a:srgbClr val="0F172A"/>
                </a:solidFill>
                <a:latin typeface="Arial"/>
              </a:rPr>
              <a:t>Satu baris data objek konkret spesifik dari tipe entitas tersebut.</a:t>
            </a:r>
          </a:p>
          <a:p>
            <a:pPr>
              <a:lnSpc>
                <a:spcPct val="115000"/>
              </a:lnSpc>
              <a:spcAft>
                <a:spcPts val="800"/>
              </a:spcAft>
            </a:pPr>
            <a:r>
              <a:rPr b="1" sz="1300">
                <a:solidFill>
                  <a:srgbClr val="0D9488"/>
                </a:solidFill>
                <a:latin typeface="Arial"/>
              </a:rPr>
              <a:t>[Analogi OOP]  </a:t>
            </a:r>
            <a:r>
              <a:rPr b="0" sz="1300">
                <a:solidFill>
                  <a:srgbClr val="0F172A"/>
                </a:solidFill>
                <a:latin typeface="Arial"/>
              </a:rPr>
              <a:t>Sama dengan OBJECT nyata yang dihasilkan dari instansiasi Class.</a:t>
            </a:r>
          </a:p>
          <a:p>
            <a:pPr>
              <a:lnSpc>
                <a:spcPct val="115000"/>
              </a:lnSpc>
              <a:spcAft>
                <a:spcPts val="800"/>
              </a:spcAft>
            </a:pPr>
            <a:r>
              <a:rPr b="1" sz="1300">
                <a:solidFill>
                  <a:srgbClr val="0D9488"/>
                </a:solidFill>
                <a:latin typeface="Arial"/>
              </a:rPr>
              <a:t>[Contoh]  </a:t>
            </a:r>
            <a:r>
              <a:rPr b="0" sz="1300">
                <a:solidFill>
                  <a:srgbClr val="0F172A"/>
                </a:solidFill>
                <a:latin typeface="Arial"/>
              </a:rPr>
              <a:t>Budi Santoso (NIM: 2301001), Dr. Siti Aminah (NIDN: 00120580).</a:t>
            </a:r>
          </a:p>
        </p:txBody>
      </p:sp>
      <p:sp>
        <p:nvSpPr>
          <p:cNvPr id="13" name="TextBox 12"/>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5 dari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Entitas Kuat (Strong) vs Entitas Lemah (Weak)</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0" y="1828800"/>
            <a:ext cx="2560320" cy="685800"/>
          </a:xfrm>
          <a:prstGeom prst="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2563EB"/>
                </a:solidFill>
              </a:defRPr>
            </a:pPr>
            <a:r>
              <a:t>MAHASISWA</a:t>
            </a:r>
          </a:p>
        </p:txBody>
      </p:sp>
      <p:sp>
        <p:nvSpPr>
          <p:cNvPr id="7" name="TextBox 6"/>
          <p:cNvSpPr txBox="1"/>
          <p:nvPr/>
        </p:nvSpPr>
        <p:spPr>
          <a:xfrm>
            <a:off x="1005840" y="2743200"/>
            <a:ext cx="4572000" cy="3108960"/>
          </a:xfrm>
          <a:prstGeom prst="rect">
            <a:avLst/>
          </a:prstGeom>
          <a:noFill/>
        </p:spPr>
        <p:txBody>
          <a:bodyPr wrap="square">
            <a:spAutoFit/>
          </a:bodyPr>
          <a:lstStyle/>
          <a:p>
            <a:pPr>
              <a:spcAft>
                <a:spcPts val="1000"/>
              </a:spcAft>
              <a:defRPr b="1" sz="1400">
                <a:solidFill>
                  <a:srgbClr val="2563EB"/>
                </a:solidFill>
              </a:defRPr>
            </a:pPr>
            <a:r>
              <a:t>STRONG ENTITY (ENTITAS KUAT)</a:t>
            </a:r>
          </a:p>
          <a:p>
            <a:pPr>
              <a:lnSpc>
                <a:spcPct val="115000"/>
              </a:lnSpc>
              <a:spcAft>
                <a:spcPts val="800"/>
              </a:spcAft>
            </a:pPr>
            <a:r>
              <a:rPr b="1" sz="1300">
                <a:solidFill>
                  <a:srgbClr val="2563EB"/>
                </a:solidFill>
                <a:latin typeface="Arial"/>
              </a:rPr>
              <a:t>[Identitas Mandiri]  </a:t>
            </a:r>
            <a:r>
              <a:rPr b="0" sz="1300">
                <a:solidFill>
                  <a:srgbClr val="0F172A"/>
                </a:solidFill>
                <a:latin typeface="Arial"/>
              </a:rPr>
              <a:t>Dapat diidentifikasi mandiri menggunakan Primary Key miliknya sendiri.</a:t>
            </a:r>
          </a:p>
          <a:p>
            <a:pPr>
              <a:lnSpc>
                <a:spcPct val="115000"/>
              </a:lnSpc>
              <a:spcAft>
                <a:spcPts val="800"/>
              </a:spcAft>
            </a:pPr>
            <a:r>
              <a:rPr b="1" sz="1300">
                <a:solidFill>
                  <a:srgbClr val="2563EB"/>
                </a:solidFill>
                <a:latin typeface="Arial"/>
              </a:rPr>
              <a:t>[Kemandirian Eksistensi]  </a:t>
            </a:r>
            <a:r>
              <a:rPr b="0" sz="1300">
                <a:solidFill>
                  <a:srgbClr val="0F172A"/>
                </a:solidFill>
                <a:latin typeface="Arial"/>
              </a:rPr>
              <a:t>Keberadaan datanya tidak bergantung pada entitas lain di sistem.</a:t>
            </a:r>
          </a:p>
          <a:p>
            <a:pPr>
              <a:lnSpc>
                <a:spcPct val="115000"/>
              </a:lnSpc>
              <a:spcAft>
                <a:spcPts val="800"/>
              </a:spcAft>
            </a:pPr>
            <a:r>
              <a:rPr b="1" sz="1300">
                <a:solidFill>
                  <a:srgbClr val="2563EB"/>
                </a:solidFill>
                <a:latin typeface="Arial"/>
              </a:rPr>
              <a:t>[Simbol Chen]  </a:t>
            </a:r>
            <a:r>
              <a:rPr b="0" sz="1300">
                <a:solidFill>
                  <a:srgbClr val="0F172A"/>
                </a:solidFill>
                <a:latin typeface="Arial"/>
              </a:rPr>
              <a:t>Persegi panjang bergaris tunggal (Single Rectangle).</a:t>
            </a:r>
          </a:p>
          <a:p>
            <a:pPr>
              <a:lnSpc>
                <a:spcPct val="115000"/>
              </a:lnSpc>
              <a:spcAft>
                <a:spcPts val="800"/>
              </a:spcAft>
            </a:pPr>
            <a:r>
              <a:rPr b="1" sz="1300">
                <a:solidFill>
                  <a:srgbClr val="2563EB"/>
                </a:solidFill>
                <a:latin typeface="Arial"/>
              </a:rPr>
              <a:t>[Contoh]  </a:t>
            </a:r>
            <a:r>
              <a:rPr b="0" sz="1300">
                <a:solidFill>
                  <a:srgbClr val="0F172A"/>
                </a:solidFill>
                <a:latin typeface="Arial"/>
              </a:rPr>
              <a:t>MAHASISWA dengan identifier mandiri NIM.</a:t>
            </a:r>
          </a:p>
        </p:txBody>
      </p:sp>
      <p:sp>
        <p:nvSpPr>
          <p:cNvPr id="8" name="Rounded Rectangle 7"/>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463040"/>
            <a:ext cx="521208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52360" y="1783080"/>
            <a:ext cx="2743200" cy="777240"/>
          </a:xfrm>
          <a:prstGeom prst="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43800" y="1874519"/>
            <a:ext cx="2560320" cy="594360"/>
          </a:xfrm>
          <a:prstGeom prst="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D97706"/>
                </a:solidFill>
              </a:defRPr>
            </a:pPr>
            <a:r>
              <a:t>TANGGUNGAN</a:t>
            </a:r>
          </a:p>
        </p:txBody>
      </p:sp>
      <p:sp>
        <p:nvSpPr>
          <p:cNvPr id="12" name="TextBox 11"/>
          <p:cNvSpPr txBox="1"/>
          <p:nvPr/>
        </p:nvSpPr>
        <p:spPr>
          <a:xfrm>
            <a:off x="6492240" y="2743200"/>
            <a:ext cx="4663440" cy="3108960"/>
          </a:xfrm>
          <a:prstGeom prst="rect">
            <a:avLst/>
          </a:prstGeom>
          <a:noFill/>
        </p:spPr>
        <p:txBody>
          <a:bodyPr wrap="square">
            <a:spAutoFit/>
          </a:bodyPr>
          <a:lstStyle/>
          <a:p>
            <a:pPr>
              <a:spcAft>
                <a:spcPts val="1000"/>
              </a:spcAft>
              <a:defRPr b="1" sz="1400">
                <a:solidFill>
                  <a:srgbClr val="D97706"/>
                </a:solidFill>
              </a:defRPr>
            </a:pPr>
            <a:r>
              <a:t>WEAK ENTITY (ENTITAS LEMAH)</a:t>
            </a:r>
          </a:p>
          <a:p>
            <a:pPr>
              <a:lnSpc>
                <a:spcPct val="115000"/>
              </a:lnSpc>
              <a:spcAft>
                <a:spcPts val="800"/>
              </a:spcAft>
            </a:pPr>
            <a:r>
              <a:rPr b="1" sz="1300">
                <a:solidFill>
                  <a:srgbClr val="D97706"/>
                </a:solidFill>
                <a:latin typeface="Arial"/>
              </a:rPr>
              <a:t>[Identitas Terikat]  </a:t>
            </a:r>
            <a:r>
              <a:rPr b="0" sz="1300">
                <a:solidFill>
                  <a:srgbClr val="0F172A"/>
                </a:solidFill>
                <a:latin typeface="Arial"/>
              </a:rPr>
              <a:t>Tidak memiliki primary key mandiri; bergantung pada entitas pemilik (Owner).</a:t>
            </a:r>
          </a:p>
          <a:p>
            <a:pPr>
              <a:lnSpc>
                <a:spcPct val="115000"/>
              </a:lnSpc>
              <a:spcAft>
                <a:spcPts val="800"/>
              </a:spcAft>
            </a:pPr>
            <a:r>
              <a:rPr b="1" sz="1300">
                <a:solidFill>
                  <a:srgbClr val="D97706"/>
                </a:solidFill>
                <a:latin typeface="Arial"/>
              </a:rPr>
              <a:t>[Ketergantungan Hidup]  </a:t>
            </a:r>
            <a:r>
              <a:rPr b="0" sz="1300">
                <a:solidFill>
                  <a:srgbClr val="0F172A"/>
                </a:solidFill>
                <a:latin typeface="Arial"/>
              </a:rPr>
              <a:t>Jika pegawai keluar, data tanggungan keluarga otomatis gugur maknanya.</a:t>
            </a:r>
          </a:p>
          <a:p>
            <a:pPr>
              <a:lnSpc>
                <a:spcPct val="115000"/>
              </a:lnSpc>
              <a:spcAft>
                <a:spcPts val="800"/>
              </a:spcAft>
            </a:pPr>
            <a:r>
              <a:rPr b="1" sz="1300">
                <a:solidFill>
                  <a:srgbClr val="D97706"/>
                </a:solidFill>
                <a:latin typeface="Arial"/>
              </a:rPr>
              <a:t>[Simbol Chen]  </a:t>
            </a:r>
            <a:r>
              <a:rPr b="0" sz="1300">
                <a:solidFill>
                  <a:srgbClr val="0F172A"/>
                </a:solidFill>
                <a:latin typeface="Arial"/>
              </a:rPr>
              <a:t>Persegi panjang bergaris ganda (Double Rectangle).</a:t>
            </a:r>
          </a:p>
          <a:p>
            <a:pPr>
              <a:lnSpc>
                <a:spcPct val="115000"/>
              </a:lnSpc>
              <a:spcAft>
                <a:spcPts val="800"/>
              </a:spcAft>
            </a:pPr>
            <a:r>
              <a:rPr b="1" sz="1300">
                <a:solidFill>
                  <a:srgbClr val="D97706"/>
                </a:solidFill>
                <a:latin typeface="Arial"/>
              </a:rPr>
              <a:t>[Peringatan]  </a:t>
            </a:r>
            <a:r>
              <a:rPr b="0" sz="1300">
                <a:solidFill>
                  <a:srgbClr val="0F172A"/>
                </a:solidFill>
                <a:latin typeface="Arial"/>
              </a:rPr>
              <a:t>Bukan sekadar tabel ber-Foreign Key, melainkan entitas yang eksistensinya terikat.</a:t>
            </a:r>
          </a:p>
        </p:txBody>
      </p:sp>
      <p:sp>
        <p:nvSpPr>
          <p:cNvPr id="13" name="TextBox 12"/>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6 dari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Konsep Atribut: Karakteristik Deskriptif Entitas</a:t>
            </a:r>
          </a:p>
        </p:txBody>
      </p:sp>
      <p:sp>
        <p:nvSpPr>
          <p:cNvPr id="4" name="Rounded Rectangle 3"/>
          <p:cNvSpPr/>
          <p:nvPr/>
        </p:nvSpPr>
        <p:spPr>
          <a:xfrm>
            <a:off x="731520" y="1463040"/>
            <a:ext cx="4572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57200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023360" cy="4114800"/>
          </a:xfrm>
          <a:prstGeom prst="rect">
            <a:avLst/>
          </a:prstGeom>
          <a:noFill/>
        </p:spPr>
        <p:txBody>
          <a:bodyPr wrap="square">
            <a:spAutoFit/>
          </a:bodyPr>
          <a:lstStyle/>
          <a:p>
            <a:pPr>
              <a:spcAft>
                <a:spcPts val="1200"/>
              </a:spcAft>
              <a:defRPr b="1" sz="1400">
                <a:solidFill>
                  <a:srgbClr val="0D9488"/>
                </a:solidFill>
              </a:defRPr>
            </a:pPr>
            <a:r>
              <a:t>ANALOGI &amp; BATASAN KONSEPTUAL</a:t>
            </a:r>
          </a:p>
          <a:p>
            <a:pPr>
              <a:lnSpc>
                <a:spcPct val="115000"/>
              </a:lnSpc>
              <a:spcAft>
                <a:spcPts val="1200"/>
              </a:spcAft>
            </a:pPr>
            <a:r>
              <a:rPr b="1" sz="1300">
                <a:solidFill>
                  <a:srgbClr val="0D9488"/>
                </a:solidFill>
                <a:latin typeface="Arial"/>
              </a:rPr>
              <a:t>[Analogi Dasar]  </a:t>
            </a:r>
            <a:r>
              <a:rPr b="0" sz="1300">
                <a:solidFill>
                  <a:srgbClr val="0F172A"/>
                </a:solidFill>
                <a:latin typeface="Arial"/>
              </a:rPr>
              <a:t>Entitas menjawab: 'APA / SIAPA objeknya?' | Atribut menjawab: 'SEPERTI APA detail karakteristik objek tersebut?'</a:t>
            </a:r>
          </a:p>
          <a:p>
            <a:pPr>
              <a:lnSpc>
                <a:spcPct val="115000"/>
              </a:lnSpc>
              <a:spcAft>
                <a:spcPts val="1200"/>
              </a:spcAft>
            </a:pPr>
            <a:r>
              <a:rPr b="1" sz="1300">
                <a:solidFill>
                  <a:srgbClr val="0D9488"/>
                </a:solidFill>
                <a:latin typeface="Arial"/>
              </a:rPr>
              <a:t>[Butiran Fakta]  </a:t>
            </a:r>
            <a:r>
              <a:rPr b="0" sz="1300">
                <a:solidFill>
                  <a:srgbClr val="0F172A"/>
                </a:solidFill>
                <a:latin typeface="Arial"/>
              </a:rPr>
              <a:t>Menyimpan nilai data atomik atau komposit yang membentuk fakta utuh tentang setiap instansi entitas.</a:t>
            </a:r>
          </a:p>
          <a:p>
            <a:pPr>
              <a:lnSpc>
                <a:spcPct val="115000"/>
              </a:lnSpc>
              <a:spcAft>
                <a:spcPts val="1200"/>
              </a:spcAft>
            </a:pPr>
            <a:r>
              <a:rPr b="1" sz="1300">
                <a:solidFill>
                  <a:srgbClr val="0D9488"/>
                </a:solidFill>
                <a:latin typeface="Arial"/>
              </a:rPr>
              <a:t>[Prinsip Minimalisme]  </a:t>
            </a:r>
            <a:r>
              <a:rPr b="0" sz="1300">
                <a:solidFill>
                  <a:srgbClr val="0F172A"/>
                </a:solidFill>
                <a:latin typeface="Arial"/>
              </a:rPr>
              <a:t>Hanya simpan atribut yang relevan bagi kebutuhan bisnis sistem. Jika sistem akademik tidak butuh golongan darah, jangan masukkan.</a:t>
            </a:r>
          </a:p>
        </p:txBody>
      </p:sp>
      <p:sp>
        <p:nvSpPr>
          <p:cNvPr id="7" name="Rounded Rectangle 6"/>
          <p:cNvSpPr/>
          <p:nvPr/>
        </p:nvSpPr>
        <p:spPr>
          <a:xfrm>
            <a:off x="5669280" y="1463040"/>
            <a:ext cx="57607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0" y="1463040"/>
            <a:ext cx="576072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0" y="1691640"/>
            <a:ext cx="5212080" cy="457200"/>
          </a:xfrm>
          <a:prstGeom prst="rect">
            <a:avLst/>
          </a:prstGeom>
          <a:noFill/>
        </p:spPr>
        <p:txBody>
          <a:bodyPr wrap="none">
            <a:spAutoFit/>
          </a:bodyPr>
          <a:lstStyle/>
          <a:p>
            <a:pPr>
              <a:defRPr b="1" sz="1400">
                <a:solidFill>
                  <a:srgbClr val="2563EB"/>
                </a:solidFill>
              </a:defRPr>
            </a:pPr>
            <a:r>
              <a:t>SPEKTRUM ATRIBUT ENTITAS 'MAHASISWA'</a:t>
            </a:r>
          </a:p>
        </p:txBody>
      </p:sp>
      <p:sp>
        <p:nvSpPr>
          <p:cNvPr id="10" name="Rounded Rectangle 9"/>
          <p:cNvSpPr/>
          <p:nvPr/>
        </p:nvSpPr>
        <p:spPr>
          <a:xfrm>
            <a:off x="5943600" y="2240280"/>
            <a:ext cx="5212080" cy="566928"/>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defRPr>
            </a:pPr>
            <a:r>
              <a:t>NIM (Nomor Induk) : Identifier unik registrasi mutlak (Primary Key)</a:t>
            </a:r>
          </a:p>
        </p:txBody>
      </p:sp>
      <p:sp>
        <p:nvSpPr>
          <p:cNvPr id="11" name="Rounded Rectangle 10"/>
          <p:cNvSpPr/>
          <p:nvPr/>
        </p:nvSpPr>
        <p:spPr>
          <a:xfrm>
            <a:off x="5943600" y="2935224"/>
            <a:ext cx="5212080" cy="566928"/>
          </a:xfrm>
          <a:prstGeom prst="roundRect">
            <a:avLst/>
          </a:prstGeom>
          <a:solidFill>
            <a:srgbClr val="F8FAFC"/>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defRPr>
            </a:pPr>
            <a:r>
              <a:t>NamaLengkap : Properti penamaan personal mahasiswa</a:t>
            </a:r>
          </a:p>
        </p:txBody>
      </p:sp>
      <p:sp>
        <p:nvSpPr>
          <p:cNvPr id="12" name="Rounded Rectangle 11"/>
          <p:cNvSpPr/>
          <p:nvPr/>
        </p:nvSpPr>
        <p:spPr>
          <a:xfrm>
            <a:off x="5943600" y="3630168"/>
            <a:ext cx="5212080" cy="566928"/>
          </a:xfrm>
          <a:prstGeom prst="roundRect">
            <a:avLst/>
          </a:prstGeom>
          <a:solidFill>
            <a:srgbClr val="F8FAFC"/>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defRPr>
            </a:pPr>
            <a:r>
              <a:t>TanggalLahir : Fakta waktu kelahiran (dasar atribut turunan umur)</a:t>
            </a:r>
          </a:p>
        </p:txBody>
      </p:sp>
      <p:sp>
        <p:nvSpPr>
          <p:cNvPr id="13" name="Rounded Rectangle 12"/>
          <p:cNvSpPr/>
          <p:nvPr/>
        </p:nvSpPr>
        <p:spPr>
          <a:xfrm>
            <a:off x="5943600" y="4325112"/>
            <a:ext cx="5212080" cy="566928"/>
          </a:xfrm>
          <a:prstGeom prst="roundRect">
            <a:avLst/>
          </a:prstGeom>
          <a:solidFill>
            <a:srgbClr val="F8FAF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defRPr>
            </a:pPr>
            <a:r>
              <a:t>AlamatDomisili : Atribut komposit lokasi tempat tinggal mahasiswa</a:t>
            </a:r>
          </a:p>
        </p:txBody>
      </p:sp>
      <p:sp>
        <p:nvSpPr>
          <p:cNvPr id="14" name="Rounded Rectangle 13"/>
          <p:cNvSpPr/>
          <p:nvPr/>
        </p:nvSpPr>
        <p:spPr>
          <a:xfrm>
            <a:off x="5943600" y="5020056"/>
            <a:ext cx="5212080" cy="566928"/>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F172A"/>
                </a:solidFill>
              </a:defRPr>
            </a:pPr>
            <a:r>
              <a:t>EmailInstitusi : Kanal komunikasi resmi universitas</a:t>
            </a:r>
          </a:p>
        </p:txBody>
      </p:sp>
      <p:sp>
        <p:nvSpPr>
          <p:cNvPr id="15" name="TextBox 14"/>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7 dari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Taksonomi Klasifikasi 6 Jenis Atribut</a:t>
            </a:r>
          </a:p>
        </p:txBody>
      </p:sp>
      <p:sp>
        <p:nvSpPr>
          <p:cNvPr id="4" name="Rounded Rectangle 3"/>
          <p:cNvSpPr/>
          <p:nvPr/>
        </p:nvSpPr>
        <p:spPr>
          <a:xfrm>
            <a:off x="731520"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27632"/>
            <a:ext cx="3090672" cy="1737360"/>
          </a:xfrm>
          <a:prstGeom prst="rect">
            <a:avLst/>
          </a:prstGeom>
          <a:noFill/>
        </p:spPr>
        <p:txBody>
          <a:bodyPr wrap="square">
            <a:spAutoFit/>
          </a:bodyPr>
          <a:lstStyle/>
          <a:p>
            <a:pPr>
              <a:spcAft>
                <a:spcPts val="600"/>
              </a:spcAft>
              <a:defRPr b="1" sz="1300">
                <a:solidFill>
                  <a:srgbClr val="2563EB"/>
                </a:solidFill>
              </a:defRPr>
            </a:pPr>
            <a:r>
              <a:t>1. SIMPLE ATTRIBUTE</a:t>
            </a:r>
          </a:p>
          <a:p>
            <a:pPr>
              <a:spcAft>
                <a:spcPts val="600"/>
              </a:spcAft>
              <a:defRPr sz="1200">
                <a:solidFill>
                  <a:srgbClr val="0F172A"/>
                </a:solidFill>
              </a:defRPr>
            </a:pPr>
            <a:r>
              <a:t>Nilai atomik terkecil, tidak dapat dipecah lagi secara logis.</a:t>
            </a:r>
          </a:p>
          <a:p>
            <a:pPr>
              <a:defRPr sz="1150" b="1">
                <a:solidFill>
                  <a:srgbClr val="64748B"/>
                </a:solidFill>
              </a:defRPr>
            </a:pPr>
            <a:r>
              <a:t>Contoh: JenisKelamin, SKS</a:t>
            </a:r>
          </a:p>
        </p:txBody>
      </p:sp>
      <p:sp>
        <p:nvSpPr>
          <p:cNvPr id="7" name="Rounded Rectangle 6"/>
          <p:cNvSpPr/>
          <p:nvPr/>
        </p:nvSpPr>
        <p:spPr>
          <a:xfrm>
            <a:off x="4370832"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0832" y="146304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627632"/>
            <a:ext cx="3090672" cy="1737360"/>
          </a:xfrm>
          <a:prstGeom prst="rect">
            <a:avLst/>
          </a:prstGeom>
          <a:noFill/>
        </p:spPr>
        <p:txBody>
          <a:bodyPr wrap="square">
            <a:spAutoFit/>
          </a:bodyPr>
          <a:lstStyle/>
          <a:p>
            <a:pPr>
              <a:spcAft>
                <a:spcPts val="600"/>
              </a:spcAft>
              <a:defRPr b="1" sz="1300">
                <a:solidFill>
                  <a:srgbClr val="0D9488"/>
                </a:solidFill>
              </a:defRPr>
            </a:pPr>
            <a:r>
              <a:t>2. COMPOSITE ATTRIBUTE</a:t>
            </a:r>
          </a:p>
          <a:p>
            <a:pPr>
              <a:spcAft>
                <a:spcPts val="600"/>
              </a:spcAft>
              <a:defRPr sz="1200">
                <a:solidFill>
                  <a:srgbClr val="0F172A"/>
                </a:solidFill>
              </a:defRPr>
            </a:pPr>
            <a:r>
              <a:t>Tersusun dari beberapa sub-elemen atomik bermakna.</a:t>
            </a:r>
          </a:p>
          <a:p>
            <a:pPr>
              <a:defRPr sz="1150" b="1">
                <a:solidFill>
                  <a:srgbClr val="64748B"/>
                </a:solidFill>
              </a:defRPr>
            </a:pPr>
            <a:r>
              <a:t>Contoh: Alamat (Jalan, Kota, Pos)</a:t>
            </a:r>
          </a:p>
        </p:txBody>
      </p:sp>
      <p:sp>
        <p:nvSpPr>
          <p:cNvPr id="10" name="Rounded Rectangle 9"/>
          <p:cNvSpPr/>
          <p:nvPr/>
        </p:nvSpPr>
        <p:spPr>
          <a:xfrm>
            <a:off x="8010144"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10144" y="1463040"/>
            <a:ext cx="3456432"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1627632"/>
            <a:ext cx="3090672" cy="1737360"/>
          </a:xfrm>
          <a:prstGeom prst="rect">
            <a:avLst/>
          </a:prstGeom>
          <a:noFill/>
        </p:spPr>
        <p:txBody>
          <a:bodyPr wrap="square">
            <a:spAutoFit/>
          </a:bodyPr>
          <a:lstStyle/>
          <a:p>
            <a:pPr>
              <a:spcAft>
                <a:spcPts val="600"/>
              </a:spcAft>
              <a:defRPr b="1" sz="1300">
                <a:solidFill>
                  <a:srgbClr val="D97706"/>
                </a:solidFill>
              </a:defRPr>
            </a:pPr>
            <a:r>
              <a:t>3. SINGLE-VALUED</a:t>
            </a:r>
          </a:p>
          <a:p>
            <a:pPr>
              <a:spcAft>
                <a:spcPts val="600"/>
              </a:spcAft>
              <a:defRPr sz="1200">
                <a:solidFill>
                  <a:srgbClr val="0F172A"/>
                </a:solidFill>
              </a:defRPr>
            </a:pPr>
            <a:r>
              <a:t>Tepat satu nilai untuk satu instance data tertentu.</a:t>
            </a:r>
          </a:p>
          <a:p>
            <a:pPr>
              <a:defRPr sz="1150" b="1">
                <a:solidFill>
                  <a:srgbClr val="64748B"/>
                </a:solidFill>
              </a:defRPr>
            </a:pPr>
            <a:r>
              <a:t>Contoh: NIM, TanggalLahir</a:t>
            </a:r>
          </a:p>
        </p:txBody>
      </p:sp>
      <p:sp>
        <p:nvSpPr>
          <p:cNvPr id="13" name="Rounded Rectangle 12"/>
          <p:cNvSpPr/>
          <p:nvPr/>
        </p:nvSpPr>
        <p:spPr>
          <a:xfrm>
            <a:off x="731520"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703320"/>
            <a:ext cx="3456432"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67912"/>
            <a:ext cx="3090672" cy="1737360"/>
          </a:xfrm>
          <a:prstGeom prst="rect">
            <a:avLst/>
          </a:prstGeom>
          <a:noFill/>
        </p:spPr>
        <p:txBody>
          <a:bodyPr wrap="square">
            <a:spAutoFit/>
          </a:bodyPr>
          <a:lstStyle/>
          <a:p>
            <a:pPr>
              <a:spcAft>
                <a:spcPts val="600"/>
              </a:spcAft>
              <a:defRPr b="1" sz="1300">
                <a:solidFill>
                  <a:srgbClr val="EA580C"/>
                </a:solidFill>
              </a:defRPr>
            </a:pPr>
            <a:r>
              <a:t>4. MULTIVALUED</a:t>
            </a:r>
          </a:p>
          <a:p>
            <a:pPr>
              <a:spcAft>
                <a:spcPts val="600"/>
              </a:spcAft>
              <a:defRPr sz="1200">
                <a:solidFill>
                  <a:srgbClr val="0F172A"/>
                </a:solidFill>
              </a:defRPr>
            </a:pPr>
            <a:r>
              <a:t>Dapat bernilai jamak sekaligus untuk instance yang sama.</a:t>
            </a:r>
          </a:p>
          <a:p>
            <a:pPr>
              <a:defRPr sz="1150" b="1">
                <a:solidFill>
                  <a:srgbClr val="64748B"/>
                </a:solidFill>
              </a:defRPr>
            </a:pPr>
            <a:r>
              <a:t>Contoh: NomorPonsel, Hobi, Skill</a:t>
            </a:r>
          </a:p>
        </p:txBody>
      </p:sp>
      <p:sp>
        <p:nvSpPr>
          <p:cNvPr id="16" name="Rounded Rectangle 15"/>
          <p:cNvSpPr/>
          <p:nvPr/>
        </p:nvSpPr>
        <p:spPr>
          <a:xfrm>
            <a:off x="4370832"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70832" y="370332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3867912"/>
            <a:ext cx="3090672" cy="1737360"/>
          </a:xfrm>
          <a:prstGeom prst="rect">
            <a:avLst/>
          </a:prstGeom>
          <a:noFill/>
        </p:spPr>
        <p:txBody>
          <a:bodyPr wrap="square">
            <a:spAutoFit/>
          </a:bodyPr>
          <a:lstStyle/>
          <a:p>
            <a:pPr>
              <a:spcAft>
                <a:spcPts val="600"/>
              </a:spcAft>
              <a:defRPr b="1" sz="1300">
                <a:solidFill>
                  <a:srgbClr val="2563EB"/>
                </a:solidFill>
              </a:defRPr>
            </a:pPr>
            <a:r>
              <a:t>5. DERIVED ATTRIBUTE</a:t>
            </a:r>
          </a:p>
          <a:p>
            <a:pPr>
              <a:spcAft>
                <a:spcPts val="600"/>
              </a:spcAft>
              <a:defRPr sz="1200">
                <a:solidFill>
                  <a:srgbClr val="0F172A"/>
                </a:solidFill>
              </a:defRPr>
            </a:pPr>
            <a:r>
              <a:t>Nilainya dihitung dinamis dari atribut lain yang tersimpan.</a:t>
            </a:r>
          </a:p>
          <a:p>
            <a:pPr>
              <a:defRPr sz="1150" b="1">
                <a:solidFill>
                  <a:srgbClr val="64748B"/>
                </a:solidFill>
              </a:defRPr>
            </a:pPr>
            <a:r>
              <a:t>Contoh: Umur dihitung dari TglLahir</a:t>
            </a:r>
          </a:p>
        </p:txBody>
      </p:sp>
      <p:sp>
        <p:nvSpPr>
          <p:cNvPr id="19" name="Rounded Rectangle 18"/>
          <p:cNvSpPr/>
          <p:nvPr/>
        </p:nvSpPr>
        <p:spPr>
          <a:xfrm>
            <a:off x="8010144"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10144" y="370332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3867912"/>
            <a:ext cx="3090672" cy="1737360"/>
          </a:xfrm>
          <a:prstGeom prst="rect">
            <a:avLst/>
          </a:prstGeom>
          <a:noFill/>
        </p:spPr>
        <p:txBody>
          <a:bodyPr wrap="square">
            <a:spAutoFit/>
          </a:bodyPr>
          <a:lstStyle/>
          <a:p>
            <a:pPr>
              <a:spcAft>
                <a:spcPts val="600"/>
              </a:spcAft>
              <a:defRPr b="1" sz="1300">
                <a:solidFill>
                  <a:srgbClr val="0D9488"/>
                </a:solidFill>
              </a:defRPr>
            </a:pPr>
            <a:r>
              <a:t>6. KEY ATTRIBUTE</a:t>
            </a:r>
          </a:p>
          <a:p>
            <a:pPr>
              <a:spcAft>
                <a:spcPts val="600"/>
              </a:spcAft>
              <a:defRPr sz="1200">
                <a:solidFill>
                  <a:srgbClr val="0F172A"/>
                </a:solidFill>
              </a:defRPr>
            </a:pPr>
            <a:r>
              <a:t>Nilai unik mutlak sebagai pembeda antar-instance data.</a:t>
            </a:r>
          </a:p>
          <a:p>
            <a:pPr>
              <a:defRPr sz="1150" b="1">
                <a:solidFill>
                  <a:srgbClr val="64748B"/>
                </a:solidFill>
              </a:defRPr>
            </a:pPr>
            <a:r>
              <a:t>Contoh: NIM, KodeMK, NIDN</a:t>
            </a:r>
          </a:p>
        </p:txBody>
      </p:sp>
      <p:sp>
        <p:nvSpPr>
          <p:cNvPr id="22" name="TextBox 21"/>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8 dari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Atribut Kunci (Key Attribute): Penjamin Keunikan Mutlak</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2563EB"/>
                </a:solidFill>
              </a:defRPr>
            </a:pPr>
            <a:r>
              <a:t>PERTANYAAN DIAGNOSTIK KELAS</a:t>
            </a:r>
          </a:p>
          <a:p>
            <a:pPr>
              <a:lnSpc>
                <a:spcPct val="115000"/>
              </a:lnSpc>
              <a:spcAft>
                <a:spcPts val="1200"/>
              </a:spcAft>
            </a:pPr>
            <a:r>
              <a:rPr b="1" sz="1300">
                <a:solidFill>
                  <a:srgbClr val="2563EB"/>
                </a:solidFill>
                <a:latin typeface="Arial"/>
              </a:rPr>
              <a:t>[Kasus Nyata]  </a:t>
            </a:r>
            <a:r>
              <a:rPr b="0" sz="1300">
                <a:solidFill>
                  <a:srgbClr val="0F172A"/>
                </a:solidFill>
                <a:latin typeface="Arial"/>
              </a:rPr>
              <a:t>Jika dua mahasiswa di angkatan yang sama bernama 'Ahmad Fauzi', bisakah atribut Nama dijadikan identifier tunggal?</a:t>
            </a:r>
          </a:p>
          <a:p>
            <a:pPr>
              <a:lnSpc>
                <a:spcPct val="115000"/>
              </a:lnSpc>
              <a:spcAft>
                <a:spcPts val="1200"/>
              </a:spcAft>
            </a:pPr>
            <a:r>
              <a:rPr b="1" sz="1300">
                <a:solidFill>
                  <a:srgbClr val="2563EB"/>
                </a:solidFill>
                <a:latin typeface="Arial"/>
              </a:rPr>
              <a:t>[Jawaban Tegas]  </a:t>
            </a:r>
            <a:r>
              <a:rPr b="0" sz="1300">
                <a:solidFill>
                  <a:srgbClr val="0F172A"/>
                </a:solidFill>
                <a:latin typeface="Arial"/>
              </a:rPr>
              <a:t>Tentu TIDAK, karena nama menimbulkan tabrakan identitas (collision) dan ketidakpastian referensi.</a:t>
            </a:r>
          </a:p>
          <a:p>
            <a:pPr>
              <a:lnSpc>
                <a:spcPct val="115000"/>
              </a:lnSpc>
              <a:spcAft>
                <a:spcPts val="1200"/>
              </a:spcAft>
            </a:pPr>
            <a:r>
              <a:rPr b="1" sz="1300">
                <a:solidFill>
                  <a:srgbClr val="2563EB"/>
                </a:solidFill>
                <a:latin typeface="Arial"/>
              </a:rPr>
              <a:t>[Syarat Mutlak PK]  </a:t>
            </a:r>
            <a:r>
              <a:rPr b="0" sz="1300">
                <a:solidFill>
                  <a:srgbClr val="0F172A"/>
                </a:solidFill>
                <a:latin typeface="Arial"/>
              </a:rPr>
              <a:t>Primary Key wajib: 1) Bernilai Unik, 2) Tidak Boleh Kosong (NOT NULL), dan 3) Nilainya stabil (tidak berubah-ubah).</a:t>
            </a:r>
          </a:p>
          <a:p>
            <a:pPr>
              <a:lnSpc>
                <a:spcPct val="115000"/>
              </a:lnSpc>
              <a:spcAft>
                <a:spcPts val="800"/>
              </a:spcAft>
            </a:pPr>
            <a:r>
              <a:rPr b="1" sz="1300">
                <a:solidFill>
                  <a:srgbClr val="2563EB"/>
                </a:solidFill>
                <a:latin typeface="Arial"/>
              </a:rPr>
              <a:t>[Notasi Chen]  </a:t>
            </a:r>
            <a:r>
              <a:rPr b="0" sz="1300">
                <a:solidFill>
                  <a:srgbClr val="0F172A"/>
                </a:solidFill>
                <a:latin typeface="Arial"/>
              </a:rPr>
              <a:t>Nama atribut di dalam oval dengan teks bergaris bawah utuh (Underlined).</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114800"/>
          </a:xfrm>
          <a:prstGeom prst="rect">
            <a:avLst/>
          </a:prstGeom>
          <a:noFill/>
        </p:spPr>
        <p:txBody>
          <a:bodyPr wrap="square">
            <a:spAutoFit/>
          </a:bodyPr>
          <a:lstStyle/>
          <a:p>
            <a:pPr>
              <a:spcAft>
                <a:spcPts val="1200"/>
              </a:spcAft>
              <a:defRPr b="1" sz="1400">
                <a:solidFill>
                  <a:srgbClr val="D97706"/>
                </a:solidFill>
              </a:defRPr>
            </a:pPr>
            <a:r>
              <a:t>HIRARKI KUNCI KONSEPTUAL</a:t>
            </a:r>
          </a:p>
          <a:p>
            <a:pPr>
              <a:lnSpc>
                <a:spcPct val="115000"/>
              </a:lnSpc>
              <a:spcAft>
                <a:spcPts val="1000"/>
              </a:spcAft>
            </a:pPr>
            <a:r>
              <a:rPr b="1" sz="1300">
                <a:solidFill>
                  <a:srgbClr val="D97706"/>
                </a:solidFill>
                <a:latin typeface="Arial"/>
              </a:rPr>
              <a:t>1. Super Key  </a:t>
            </a:r>
            <a:r>
              <a:rPr b="0" sz="1300">
                <a:solidFill>
                  <a:srgbClr val="0F172A"/>
                </a:solidFill>
                <a:latin typeface="Arial"/>
              </a:rPr>
              <a:t>Satu atau gabungan atribut yang membedakan instance secara unik (bisa memuat atribut redundan).</a:t>
            </a:r>
          </a:p>
          <a:p>
            <a:pPr>
              <a:lnSpc>
                <a:spcPct val="115000"/>
              </a:lnSpc>
              <a:spcAft>
                <a:spcPts val="1000"/>
              </a:spcAft>
            </a:pPr>
            <a:r>
              <a:rPr b="1" sz="1300">
                <a:solidFill>
                  <a:srgbClr val="D97706"/>
                </a:solidFill>
                <a:latin typeface="Arial"/>
              </a:rPr>
              <a:t>2. Candidate Key  </a:t>
            </a:r>
            <a:r>
              <a:rPr b="0" sz="1300">
                <a:solidFill>
                  <a:srgbClr val="0F172A"/>
                </a:solidFill>
                <a:latin typeface="Arial"/>
              </a:rPr>
              <a:t>Super key berukuran minimal tanpa ada atribut redundan (Contoh: {NIM}, {NomorKTP}).</a:t>
            </a:r>
          </a:p>
          <a:p>
            <a:pPr>
              <a:lnSpc>
                <a:spcPct val="115000"/>
              </a:lnSpc>
              <a:spcAft>
                <a:spcPts val="1000"/>
              </a:spcAft>
            </a:pPr>
            <a:r>
              <a:rPr b="1" sz="1300">
                <a:solidFill>
                  <a:srgbClr val="D97706"/>
                </a:solidFill>
                <a:latin typeface="Arial"/>
              </a:rPr>
              <a:t>3. Primary Key (PK)  </a:t>
            </a:r>
            <a:r>
              <a:rPr b="0" sz="1300">
                <a:solidFill>
                  <a:srgbClr val="0F172A"/>
                </a:solidFill>
                <a:latin typeface="Arial"/>
              </a:rPr>
              <a:t>Satu Candidate Key terpilih resmi sebagai pengenal utama entitas dalam sistem (Contoh: NIM).</a:t>
            </a:r>
          </a:p>
          <a:p>
            <a:pPr>
              <a:lnSpc>
                <a:spcPct val="115000"/>
              </a:lnSpc>
              <a:spcAft>
                <a:spcPts val="1000"/>
              </a:spcAft>
            </a:pPr>
            <a:r>
              <a:rPr b="1" sz="1300">
                <a:solidFill>
                  <a:srgbClr val="D97706"/>
                </a:solidFill>
                <a:latin typeface="Arial"/>
              </a:rPr>
              <a:t>4. Composite Key  </a:t>
            </a:r>
            <a:r>
              <a:rPr b="0" sz="1300">
                <a:solidFill>
                  <a:srgbClr val="0F172A"/>
                </a:solidFill>
                <a:latin typeface="Arial"/>
              </a:rPr>
              <a:t>Primary Key yang tersusun dari kombinasi dua atau lebih atribut secara bersama-sama.</a:t>
            </a:r>
          </a:p>
        </p:txBody>
      </p:sp>
      <p:sp>
        <p:nvSpPr>
          <p:cNvPr id="10" name="TextBox 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9 dari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Atribut Komposit: Struktur Cabang Sub-Komponen</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2563EB"/>
                </a:solidFill>
              </a:defRPr>
            </a:pPr>
            <a:r>
              <a:t>DEFINISI &amp; ALASAN BISNIS</a:t>
            </a:r>
          </a:p>
          <a:p>
            <a:pPr>
              <a:lnSpc>
                <a:spcPct val="115000"/>
              </a:lnSpc>
              <a:spcAft>
                <a:spcPts val="1200"/>
              </a:spcAft>
            </a:pPr>
            <a:r>
              <a:rPr b="1" sz="1300">
                <a:solidFill>
                  <a:srgbClr val="2563EB"/>
                </a:solidFill>
                <a:latin typeface="Arial"/>
              </a:rPr>
              <a:t>[Definisi]  </a:t>
            </a:r>
            <a:r>
              <a:rPr b="0" sz="1300">
                <a:solidFill>
                  <a:srgbClr val="0F172A"/>
                </a:solidFill>
                <a:latin typeface="Arial"/>
              </a:rPr>
              <a:t>Atribut yang dapat didekomposisi menjadi beberapa sub-elemen yang memiliki makna tersendiri.</a:t>
            </a:r>
          </a:p>
          <a:p>
            <a:pPr>
              <a:lnSpc>
                <a:spcPct val="115000"/>
              </a:lnSpc>
              <a:spcAft>
                <a:spcPts val="1200"/>
              </a:spcAft>
            </a:pPr>
            <a:r>
              <a:rPr b="1" sz="1300">
                <a:solidFill>
                  <a:srgbClr val="2563EB"/>
                </a:solidFill>
                <a:latin typeface="Arial"/>
              </a:rPr>
              <a:t>[PENEGASAN PENTING]  </a:t>
            </a:r>
            <a:r>
              <a:rPr b="0" sz="1300">
                <a:solidFill>
                  <a:srgbClr val="0F172A"/>
                </a:solidFill>
                <a:latin typeface="Arial"/>
              </a:rPr>
              <a:t>Komposit BUKAN berarti 'memiliki banyak nilai'. Komposit berarti 'satu nilai yang dirinci bagian penyusunnya'.</a:t>
            </a:r>
          </a:p>
          <a:p>
            <a:pPr>
              <a:lnSpc>
                <a:spcPct val="115000"/>
              </a:lnSpc>
              <a:spcAft>
                <a:spcPts val="1200"/>
              </a:spcAft>
            </a:pPr>
            <a:r>
              <a:rPr b="1" sz="1300">
                <a:solidFill>
                  <a:srgbClr val="2563EB"/>
                </a:solidFill>
                <a:latin typeface="Arial"/>
              </a:rPr>
              <a:t>[Tujuan Bisnis]  </a:t>
            </a:r>
            <a:r>
              <a:rPr b="0" sz="1300">
                <a:solidFill>
                  <a:srgbClr val="0F172A"/>
                </a:solidFill>
                <a:latin typeface="Arial"/>
              </a:rPr>
              <a:t>Memudahkan filtering kota asal mahasiswa atau menghitung ongkos kirim per kecamatan tanpa memerlukan string parsing regex yang rentan galat.</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57200"/>
          </a:xfrm>
          <a:prstGeom prst="rect">
            <a:avLst/>
          </a:prstGeom>
          <a:noFill/>
        </p:spPr>
        <p:txBody>
          <a:bodyPr wrap="none">
            <a:spAutoFit/>
          </a:bodyPr>
          <a:lstStyle/>
          <a:p>
            <a:pPr>
              <a:defRPr b="1" sz="1400">
                <a:solidFill>
                  <a:srgbClr val="0D9488"/>
                </a:solidFill>
              </a:defRPr>
            </a:pPr>
            <a:r>
              <a:t>POHON DEKOMPOSISI ATRIBUT 'ALAMAT'</a:t>
            </a:r>
          </a:p>
        </p:txBody>
      </p:sp>
      <p:sp>
        <p:nvSpPr>
          <p:cNvPr id="10" name="Rounded Rectangle 9"/>
          <p:cNvSpPr/>
          <p:nvPr/>
        </p:nvSpPr>
        <p:spPr>
          <a:xfrm>
            <a:off x="6583680" y="2377440"/>
            <a:ext cx="2011680" cy="548640"/>
          </a:xfrm>
          <a:prstGeom prst="roundRect">
            <a:avLst/>
          </a:prstGeom>
          <a:solidFill>
            <a:srgbClr val="0D9488"/>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1300">
                <a:solidFill>
                  <a:srgbClr val="FFFFFF"/>
                </a:solidFill>
              </a:defRPr>
            </a:pPr>
            <a:r>
              <a:t>Alamat</a:t>
            </a:r>
          </a:p>
        </p:txBody>
      </p:sp>
      <p:sp>
        <p:nvSpPr>
          <p:cNvPr id="11" name="Rounded Rectangle 10"/>
          <p:cNvSpPr/>
          <p:nvPr/>
        </p:nvSpPr>
        <p:spPr>
          <a:xfrm>
            <a:off x="7589520" y="3108960"/>
            <a:ext cx="3474720" cy="502920"/>
          </a:xfrm>
          <a:prstGeom prst="roundRect">
            <a:avLst/>
          </a:prstGeom>
          <a:solidFill>
            <a:srgbClr val="F8FAFC"/>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defRPr>
            </a:pPr>
            <a:r>
              <a:t>└── NamaJalan (Jl. Sudirman 45)</a:t>
            </a:r>
          </a:p>
        </p:txBody>
      </p:sp>
      <p:sp>
        <p:nvSpPr>
          <p:cNvPr id="12" name="Rounded Rectangle 11"/>
          <p:cNvSpPr/>
          <p:nvPr/>
        </p:nvSpPr>
        <p:spPr>
          <a:xfrm>
            <a:off x="7589520" y="3749039"/>
            <a:ext cx="3474720" cy="502920"/>
          </a:xfrm>
          <a:prstGeom prst="roundRect">
            <a:avLst/>
          </a:prstGeom>
          <a:solidFill>
            <a:srgbClr val="F8FAFC"/>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defRPr>
            </a:pPr>
            <a:r>
              <a:t>└── Kecamatan (Tegalsari)</a:t>
            </a:r>
          </a:p>
        </p:txBody>
      </p:sp>
      <p:sp>
        <p:nvSpPr>
          <p:cNvPr id="13" name="Rounded Rectangle 12"/>
          <p:cNvSpPr/>
          <p:nvPr/>
        </p:nvSpPr>
        <p:spPr>
          <a:xfrm>
            <a:off x="7589520" y="4389120"/>
            <a:ext cx="3474720" cy="502920"/>
          </a:xfrm>
          <a:prstGeom prst="roundRect">
            <a:avLst/>
          </a:prstGeom>
          <a:solidFill>
            <a:srgbClr val="F8FAFC"/>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defRPr>
            </a:pPr>
            <a:r>
              <a:t>└── Kota / Kab (Surabaya)</a:t>
            </a:r>
          </a:p>
        </p:txBody>
      </p:sp>
      <p:sp>
        <p:nvSpPr>
          <p:cNvPr id="14" name="Rounded Rectangle 13"/>
          <p:cNvSpPr/>
          <p:nvPr/>
        </p:nvSpPr>
        <p:spPr>
          <a:xfrm>
            <a:off x="7589520" y="5029200"/>
            <a:ext cx="3474720" cy="502920"/>
          </a:xfrm>
          <a:prstGeom prst="roundRect">
            <a:avLst/>
          </a:prstGeom>
          <a:solidFill>
            <a:srgbClr val="F8FAFC"/>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F172A"/>
                </a:solidFill>
              </a:defRPr>
            </a:pPr>
            <a:r>
              <a:t>└── KodePos (60261)</a:t>
            </a:r>
          </a:p>
        </p:txBody>
      </p:sp>
      <p:sp>
        <p:nvSpPr>
          <p:cNvPr id="15" name="TextBox 14"/>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10 dari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Multivalued Attribute: Himpunan Nilai Jamak</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EA580C"/>
                </a:solidFill>
              </a:defRPr>
            </a:pPr>
            <a:r>
              <a:t>KARAKTERISTIK NILAI JAMAK</a:t>
            </a:r>
          </a:p>
          <a:p>
            <a:pPr>
              <a:lnSpc>
                <a:spcPct val="115000"/>
              </a:lnSpc>
              <a:spcAft>
                <a:spcPts val="1200"/>
              </a:spcAft>
            </a:pPr>
            <a:r>
              <a:rPr b="1" sz="1300">
                <a:solidFill>
                  <a:srgbClr val="EA580C"/>
                </a:solidFill>
                <a:latin typeface="Arial"/>
              </a:rPr>
              <a:t>[Definisi]  </a:t>
            </a:r>
            <a:r>
              <a:rPr b="0" sz="1300">
                <a:solidFill>
                  <a:srgbClr val="0F172A"/>
                </a:solidFill>
                <a:latin typeface="Arial"/>
              </a:rPr>
              <a:t>Satu instansi entitas dapat memiliki LEBIH DARI SATU nilai untuk atribut yang sama pada saat bersamaan.</a:t>
            </a:r>
          </a:p>
          <a:p>
            <a:pPr>
              <a:lnSpc>
                <a:spcPct val="115000"/>
              </a:lnSpc>
              <a:spcAft>
                <a:spcPts val="1200"/>
              </a:spcAft>
            </a:pPr>
            <a:r>
              <a:rPr b="1" sz="1300">
                <a:solidFill>
                  <a:srgbClr val="EA580C"/>
                </a:solidFill>
                <a:latin typeface="Arial"/>
              </a:rPr>
              <a:t>[Kasus Nyata]  </a:t>
            </a:r>
            <a:r>
              <a:rPr b="0" sz="1300">
                <a:solidFill>
                  <a:srgbClr val="0F172A"/>
                </a:solidFill>
                <a:latin typeface="Arial"/>
              </a:rPr>
              <a:t>Mahasiswa bernama 'Budi Santoso' memiliki 3 nomor ponsel aktif: {0812-..., 0857-..., 0819-...}.</a:t>
            </a:r>
          </a:p>
          <a:p>
            <a:pPr>
              <a:lnSpc>
                <a:spcPct val="115000"/>
              </a:lnSpc>
              <a:spcAft>
                <a:spcPts val="1200"/>
              </a:spcAft>
            </a:pPr>
            <a:r>
              <a:rPr b="1" sz="1300">
                <a:solidFill>
                  <a:srgbClr val="EA580C"/>
                </a:solidFill>
                <a:latin typeface="Arial"/>
              </a:rPr>
              <a:t>[Contoh Lain]  </a:t>
            </a:r>
            <a:r>
              <a:rPr b="0" sz="1300">
                <a:solidFill>
                  <a:srgbClr val="0F172A"/>
                </a:solidFill>
                <a:latin typeface="Arial"/>
              </a:rPr>
              <a:t>Keahlian / Skill, Gelar Akademik, Alamat Email Pribadi.</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57200"/>
          </a:xfrm>
          <a:prstGeom prst="rect">
            <a:avLst/>
          </a:prstGeom>
          <a:noFill/>
        </p:spPr>
        <p:txBody>
          <a:bodyPr wrap="none">
            <a:spAutoFit/>
          </a:bodyPr>
          <a:lstStyle/>
          <a:p>
            <a:pPr>
              <a:defRPr b="1" sz="1400">
                <a:solidFill>
                  <a:srgbClr val="2563EB"/>
                </a:solidFill>
              </a:defRPr>
            </a:pPr>
            <a:r>
              <a:t>SIMBOL CHEN: OVAL GANDA (DOUBLE OVAL)</a:t>
            </a:r>
          </a:p>
        </p:txBody>
      </p:sp>
      <p:sp>
        <p:nvSpPr>
          <p:cNvPr id="10" name="Oval 9"/>
          <p:cNvSpPr/>
          <p:nvPr/>
        </p:nvSpPr>
        <p:spPr>
          <a:xfrm>
            <a:off x="7132320" y="2468880"/>
            <a:ext cx="3383280" cy="1371600"/>
          </a:xfrm>
          <a:prstGeom prst="ellipse">
            <a:avLst/>
          </a:prstGeom>
          <a:solidFill>
            <a:srgbClr val="F8FAFC"/>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5200" y="2606040"/>
            <a:ext cx="3017520" cy="1097280"/>
          </a:xfrm>
          <a:prstGeom prst="ellipse">
            <a:avLst/>
          </a:prstGeom>
          <a:solidFill>
            <a:srgbClr val="F8FAFC"/>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400">
                <a:solidFill>
                  <a:srgbClr val="EA580C"/>
                </a:solidFill>
              </a:defRPr>
            </a:pPr>
            <a:r>
              <a:t>NomorTelepon</a:t>
            </a:r>
          </a:p>
        </p:txBody>
      </p:sp>
      <p:sp>
        <p:nvSpPr>
          <p:cNvPr id="12" name="TextBox 11"/>
          <p:cNvSpPr txBox="1"/>
          <p:nvPr/>
        </p:nvSpPr>
        <p:spPr>
          <a:xfrm>
            <a:off x="6492240" y="4114800"/>
            <a:ext cx="4663440" cy="1645920"/>
          </a:xfrm>
          <a:prstGeom prst="rect">
            <a:avLst/>
          </a:prstGeom>
          <a:noFill/>
        </p:spPr>
        <p:txBody>
          <a:bodyPr wrap="square">
            <a:spAutoFit/>
          </a:bodyPr>
          <a:lstStyle/>
          <a:p>
            <a:pPr>
              <a:defRPr sz="1200">
                <a:solidFill>
                  <a:srgbClr val="64748B"/>
                </a:solidFill>
              </a:defRPr>
            </a:pPr>
            <a:r>
              <a:t>⚠️ ATURAN TRANSFORMASI RELASIONAL:</a:t>
            </a:r>
            <a:br/>
            <a:r>
              <a:t>Pada tahap implementasi fisik database, dilarang menyimpan '0812..., 0857...' dalam satu kolom teks yang dipisah koma (melanggar 1st Normal Form). Atribut ini wajib bertransformasi menjadi tabel anak tersendiri.</a:t>
            </a:r>
          </a:p>
        </p:txBody>
      </p:sp>
      <p:sp>
        <p:nvSpPr>
          <p:cNvPr id="13" name="TextBox 12"/>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11 dari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Derived Attribute: Nilai Hasil Turunan Komputasi</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0D9488"/>
                </a:solidFill>
              </a:defRPr>
            </a:pPr>
            <a:r>
              <a:t>PRINSIP EFISIENSI DATA STORAGE</a:t>
            </a:r>
          </a:p>
          <a:p>
            <a:pPr>
              <a:lnSpc>
                <a:spcPct val="115000"/>
              </a:lnSpc>
              <a:spcAft>
                <a:spcPts val="1200"/>
              </a:spcAft>
            </a:pPr>
            <a:r>
              <a:rPr b="1" sz="1300">
                <a:solidFill>
                  <a:srgbClr val="0D9488"/>
                </a:solidFill>
                <a:latin typeface="Arial"/>
              </a:rPr>
              <a:t>[Definisi]  </a:t>
            </a:r>
            <a:r>
              <a:rPr b="0" sz="1300">
                <a:solidFill>
                  <a:srgbClr val="0F172A"/>
                </a:solidFill>
                <a:latin typeface="Arial"/>
              </a:rPr>
              <a:t>Atribut yang nilainya dapat dihitung, diturunkan, atau dikomputasi dari atribut tersimpan lainnya.</a:t>
            </a:r>
          </a:p>
          <a:p>
            <a:pPr>
              <a:lnSpc>
                <a:spcPct val="115000"/>
              </a:lnSpc>
              <a:spcAft>
                <a:spcPts val="1200"/>
              </a:spcAft>
            </a:pPr>
            <a:r>
              <a:rPr b="1" sz="1300">
                <a:solidFill>
                  <a:srgbClr val="0D9488"/>
                </a:solidFill>
                <a:latin typeface="Arial"/>
              </a:rPr>
              <a:t>[Mengapa Tidak Disimpan?]  </a:t>
            </a:r>
            <a:r>
              <a:rPr b="0" sz="1300">
                <a:solidFill>
                  <a:srgbClr val="0F172A"/>
                </a:solidFill>
                <a:latin typeface="Arial"/>
              </a:rPr>
              <a:t>Karena umur bertambah tiap tahun tanpa aksi update. Menyimpan umur di database menghasilkan data usang (stale data).</a:t>
            </a:r>
          </a:p>
          <a:p>
            <a:pPr>
              <a:lnSpc>
                <a:spcPct val="115000"/>
              </a:lnSpc>
              <a:spcAft>
                <a:spcPts val="1200"/>
              </a:spcAft>
            </a:pPr>
            <a:r>
              <a:rPr b="1" sz="1300">
                <a:solidFill>
                  <a:srgbClr val="0D9488"/>
                </a:solidFill>
                <a:latin typeface="Arial"/>
              </a:rPr>
              <a:t>[Simbol Chen]  </a:t>
            </a:r>
            <a:r>
              <a:rPr b="0" sz="1300">
                <a:solidFill>
                  <a:srgbClr val="0F172A"/>
                </a:solidFill>
                <a:latin typeface="Arial"/>
              </a:rPr>
              <a:t>Oval bergaris putus-putus (Dashed Oval).</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114800"/>
          </a:xfrm>
          <a:prstGeom prst="rect">
            <a:avLst/>
          </a:prstGeom>
          <a:noFill/>
        </p:spPr>
        <p:txBody>
          <a:bodyPr wrap="square">
            <a:spAutoFit/>
          </a:bodyPr>
          <a:lstStyle/>
          <a:p>
            <a:pPr>
              <a:spcAft>
                <a:spcPts val="1400"/>
              </a:spcAft>
              <a:defRPr b="1" sz="1400">
                <a:solidFill>
                  <a:srgbClr val="2563EB"/>
                </a:solidFill>
              </a:defRPr>
            </a:pPr>
            <a:r>
              <a:t>CONTOH OPERASIONAL RUMUS</a:t>
            </a:r>
          </a:p>
          <a:p>
            <a:pPr>
              <a:lnSpc>
                <a:spcPct val="115000"/>
              </a:lnSpc>
              <a:spcAft>
                <a:spcPts val="1400"/>
              </a:spcAft>
            </a:pPr>
            <a:r>
              <a:rPr b="1" sz="1300">
                <a:solidFill>
                  <a:srgbClr val="2563EB"/>
                </a:solidFill>
                <a:latin typeface="Arial"/>
              </a:rPr>
              <a:t>Kasus Umur Mahasiswa  </a:t>
            </a:r>
            <a:r>
              <a:rPr b="0" sz="1300">
                <a:solidFill>
                  <a:srgbClr val="0F172A"/>
                </a:solidFill>
                <a:latin typeface="Arial"/>
              </a:rPr>
              <a:t>TanggalLahir (Stored)  ──&gt;  [Umur] (Derived)
Rumus: Tahun_Sekarang - Tahun_Lahir</a:t>
            </a:r>
          </a:p>
          <a:p>
            <a:pPr>
              <a:lnSpc>
                <a:spcPct val="115000"/>
              </a:lnSpc>
              <a:spcAft>
                <a:spcPts val="1400"/>
              </a:spcAft>
            </a:pPr>
            <a:r>
              <a:rPr b="1" sz="1300">
                <a:solidFill>
                  <a:srgbClr val="2563EB"/>
                </a:solidFill>
                <a:latin typeface="Arial"/>
              </a:rPr>
              <a:t>Kasus Masa Studi  </a:t>
            </a:r>
            <a:r>
              <a:rPr b="0" sz="1300">
                <a:solidFill>
                  <a:srgbClr val="0F172A"/>
                </a:solidFill>
                <a:latin typeface="Arial"/>
              </a:rPr>
              <a:t>TanggalMasuk (Stored)  ──&gt;  [SemesterAktif] (Derived)
Dihitung dari selisih waktu registrasi.</a:t>
            </a:r>
          </a:p>
          <a:p>
            <a:pPr>
              <a:lnSpc>
                <a:spcPct val="115000"/>
              </a:lnSpc>
              <a:spcAft>
                <a:spcPts val="1400"/>
              </a:spcAft>
            </a:pPr>
            <a:r>
              <a:rPr b="1" sz="1300">
                <a:solidFill>
                  <a:srgbClr val="2563EB"/>
                </a:solidFill>
                <a:latin typeface="Arial"/>
              </a:rPr>
              <a:t>Kasus Transaksi Toko  </a:t>
            </a:r>
            <a:r>
              <a:rPr b="0" sz="1300">
                <a:solidFill>
                  <a:srgbClr val="0F172A"/>
                </a:solidFill>
                <a:latin typeface="Arial"/>
              </a:rPr>
              <a:t>HargaSatuan x Kuantitas  ──&gt;  [TotalBiaya] (Derived)
Dihitung dinamis saat proses checkout.</a:t>
            </a:r>
          </a:p>
        </p:txBody>
      </p:sp>
      <p:sp>
        <p:nvSpPr>
          <p:cNvPr id="10" name="TextBox 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12 dari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Relationship: Asosiasi Bermakna Antar-Entitas</a:t>
            </a:r>
          </a:p>
        </p:txBody>
      </p:sp>
      <p:sp>
        <p:nvSpPr>
          <p:cNvPr id="4" name="Rounded Rectangle 3"/>
          <p:cNvSpPr/>
          <p:nvPr/>
        </p:nvSpPr>
        <p:spPr>
          <a:xfrm>
            <a:off x="731520" y="1463040"/>
            <a:ext cx="1069848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914400"/>
          </a:xfrm>
          <a:prstGeom prst="rect">
            <a:avLst/>
          </a:prstGeom>
          <a:noFill/>
        </p:spPr>
        <p:txBody>
          <a:bodyPr wrap="square">
            <a:spAutoFit/>
          </a:bodyPr>
          <a:lstStyle/>
          <a:p>
            <a:pPr>
              <a:defRPr b="1" sz="1100">
                <a:solidFill>
                  <a:srgbClr val="2563EB"/>
                </a:solidFill>
              </a:defRPr>
            </a:pPr>
            <a:r>
              <a:t>ATURAN BISNIS SEBAGAI PONDASI RELASI:</a:t>
            </a:r>
          </a:p>
          <a:p>
            <a:pPr>
              <a:defRPr b="1" sz="1500">
                <a:solidFill>
                  <a:srgbClr val="0F172A"/>
                </a:solidFill>
              </a:defRPr>
            </a:pPr>
            <a:r>
              <a:t>"Relasi lahir dari aktivitas operasional nyata, bukan dibuat-buat karena ada dua tabel teknis."</a:t>
            </a:r>
          </a:p>
          <a:p>
            <a:pPr>
              <a:defRPr sz="1200">
                <a:solidFill>
                  <a:srgbClr val="0D9488"/>
                </a:solidFill>
              </a:defRPr>
            </a:pPr>
            <a:r>
              <a:t>Penamaan relasi wajib menggunakan KATA KERJA AKTIF yang lugas (Simbol Chen: Belah Ketupat / Diamond).</a:t>
            </a:r>
          </a:p>
        </p:txBody>
      </p:sp>
      <p:sp>
        <p:nvSpPr>
          <p:cNvPr id="7" name="Rounded Rectangle 6"/>
          <p:cNvSpPr/>
          <p:nvPr/>
        </p:nvSpPr>
        <p:spPr>
          <a:xfrm>
            <a:off x="731520" y="2834640"/>
            <a:ext cx="3456432"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83464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17520"/>
            <a:ext cx="3090672" cy="2834640"/>
          </a:xfrm>
          <a:prstGeom prst="rect">
            <a:avLst/>
          </a:prstGeom>
          <a:noFill/>
        </p:spPr>
        <p:txBody>
          <a:bodyPr wrap="square">
            <a:spAutoFit/>
          </a:bodyPr>
          <a:lstStyle/>
          <a:p>
            <a:pPr>
              <a:spcAft>
                <a:spcPts val="1200"/>
              </a:spcAft>
              <a:defRPr b="1" sz="1300">
                <a:solidFill>
                  <a:srgbClr val="2563EB"/>
                </a:solidFill>
              </a:defRPr>
            </a:pPr>
            <a:r>
              <a:t>DOMAIN AKADEMIK</a:t>
            </a:r>
          </a:p>
          <a:p>
            <a:pPr>
              <a:lnSpc>
                <a:spcPct val="130000"/>
              </a:lnSpc>
              <a:defRPr sz="1300">
                <a:solidFill>
                  <a:srgbClr val="0F172A"/>
                </a:solidFill>
              </a:defRPr>
            </a:pPr>
            <a:r>
              <a:t>MAHASISWA  ──&lt; mengambil &gt;──  MATA_KULIAH</a:t>
            </a:r>
            <a:br/>
            <a:r>
              <a:t>DOSEN  ──&lt; mengajar &gt;──  MATA_KULIAH</a:t>
            </a:r>
          </a:p>
        </p:txBody>
      </p:sp>
      <p:sp>
        <p:nvSpPr>
          <p:cNvPr id="10" name="Rounded Rectangle 9"/>
          <p:cNvSpPr/>
          <p:nvPr/>
        </p:nvSpPr>
        <p:spPr>
          <a:xfrm>
            <a:off x="4370832" y="2834640"/>
            <a:ext cx="3456432"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70832" y="283464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3017520"/>
            <a:ext cx="3090672" cy="2834640"/>
          </a:xfrm>
          <a:prstGeom prst="rect">
            <a:avLst/>
          </a:prstGeom>
          <a:noFill/>
        </p:spPr>
        <p:txBody>
          <a:bodyPr wrap="square">
            <a:spAutoFit/>
          </a:bodyPr>
          <a:lstStyle/>
          <a:p>
            <a:pPr>
              <a:spcAft>
                <a:spcPts val="1200"/>
              </a:spcAft>
              <a:defRPr b="1" sz="1300">
                <a:solidFill>
                  <a:srgbClr val="0D9488"/>
                </a:solidFill>
              </a:defRPr>
            </a:pPr>
            <a:r>
              <a:t>DOMAIN KLINIK MEDIS</a:t>
            </a:r>
          </a:p>
          <a:p>
            <a:pPr>
              <a:lnSpc>
                <a:spcPct val="130000"/>
              </a:lnSpc>
              <a:defRPr sz="1300">
                <a:solidFill>
                  <a:srgbClr val="0F172A"/>
                </a:solidFill>
              </a:defRPr>
            </a:pPr>
            <a:r>
              <a:t>DOKTER  ──&lt; menangani &gt;──  PASIEN</a:t>
            </a:r>
            <a:br/>
            <a:r>
              <a:t>PASIEN  ──&lt; melakukan &gt;──  KUNJUNGAN</a:t>
            </a:r>
          </a:p>
        </p:txBody>
      </p:sp>
      <p:sp>
        <p:nvSpPr>
          <p:cNvPr id="13" name="Rounded Rectangle 12"/>
          <p:cNvSpPr/>
          <p:nvPr/>
        </p:nvSpPr>
        <p:spPr>
          <a:xfrm>
            <a:off x="8010144" y="2834640"/>
            <a:ext cx="3456432"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10144" y="2834640"/>
            <a:ext cx="3456432"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4" y="3017520"/>
            <a:ext cx="3090672" cy="2834640"/>
          </a:xfrm>
          <a:prstGeom prst="rect">
            <a:avLst/>
          </a:prstGeom>
          <a:noFill/>
        </p:spPr>
        <p:txBody>
          <a:bodyPr wrap="square">
            <a:spAutoFit/>
          </a:bodyPr>
          <a:lstStyle/>
          <a:p>
            <a:pPr>
              <a:spcAft>
                <a:spcPts val="1200"/>
              </a:spcAft>
              <a:defRPr b="1" sz="1300">
                <a:solidFill>
                  <a:srgbClr val="D97706"/>
                </a:solidFill>
              </a:defRPr>
            </a:pPr>
            <a:r>
              <a:t>DOMAIN E-COMMERCE</a:t>
            </a:r>
          </a:p>
          <a:p>
            <a:pPr>
              <a:lnSpc>
                <a:spcPct val="130000"/>
              </a:lnSpc>
              <a:defRPr sz="1300">
                <a:solidFill>
                  <a:srgbClr val="0F172A"/>
                </a:solidFill>
              </a:defRPr>
            </a:pPr>
            <a:r>
              <a:t>PELANGGAN  ──&lt; membuat &gt;──  PESANAN</a:t>
            </a:r>
            <a:br/>
            <a:r>
              <a:t>PESANAN  ──&lt; memuat &gt;──  PRODUK</a:t>
            </a:r>
          </a:p>
        </p:txBody>
      </p:sp>
      <p:sp>
        <p:nvSpPr>
          <p:cNvPr id="16" name="TextBox 15"/>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13 dari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Derajat Relasi: Jumlah Tipe Entitas yang Berpartisipasi</a:t>
            </a:r>
          </a:p>
        </p:txBody>
      </p:sp>
      <p:sp>
        <p:nvSpPr>
          <p:cNvPr id="4" name="Rounded Rectangle 3"/>
          <p:cNvSpPr/>
          <p:nvPr/>
        </p:nvSpPr>
        <p:spPr>
          <a:xfrm>
            <a:off x="731520" y="1463040"/>
            <a:ext cx="106984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097280"/>
          </a:xfrm>
          <a:prstGeom prst="rect">
            <a:avLst/>
          </a:prstGeom>
          <a:noFill/>
        </p:spPr>
        <p:txBody>
          <a:bodyPr wrap="square">
            <a:spAutoFit/>
          </a:bodyPr>
          <a:lstStyle/>
          <a:p>
            <a:pPr>
              <a:defRPr b="1" sz="1300">
                <a:solidFill>
                  <a:srgbClr val="2563EB"/>
                </a:solidFill>
              </a:defRPr>
            </a:pPr>
            <a:r>
              <a:t>UNARY (DERAJAT 1 / RECURSIVE)</a:t>
            </a:r>
          </a:p>
          <a:p>
            <a:pPr>
              <a:defRPr sz="1250">
                <a:solidFill>
                  <a:srgbClr val="0F172A"/>
                </a:solidFill>
              </a:defRPr>
            </a:pPr>
            <a:r>
              <a:t>Relasi menghubungkan satu entitas dengan dirinya sendiri. | Contoh Kasus Organisasi:</a:t>
            </a:r>
            <a:br/>
            <a:r>
              <a:t>PEGAWAI  ──&lt; membawahi &gt;──  PEGAWAI</a:t>
            </a:r>
            <a:br/>
            <a:r>
              <a:t>(Relasi hierarkis antara manajer dan staf pada tabel yang sama).</a:t>
            </a:r>
          </a:p>
        </p:txBody>
      </p:sp>
      <p:sp>
        <p:nvSpPr>
          <p:cNvPr id="7" name="Rounded Rectangle 6"/>
          <p:cNvSpPr/>
          <p:nvPr/>
        </p:nvSpPr>
        <p:spPr>
          <a:xfrm>
            <a:off x="731520" y="2999232"/>
            <a:ext cx="106984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999232"/>
            <a:ext cx="106984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136392"/>
            <a:ext cx="10149840" cy="1097280"/>
          </a:xfrm>
          <a:prstGeom prst="rect">
            <a:avLst/>
          </a:prstGeom>
          <a:noFill/>
        </p:spPr>
        <p:txBody>
          <a:bodyPr wrap="square">
            <a:spAutoFit/>
          </a:bodyPr>
          <a:lstStyle/>
          <a:p>
            <a:pPr>
              <a:defRPr b="1" sz="1300">
                <a:solidFill>
                  <a:srgbClr val="0D9488"/>
                </a:solidFill>
              </a:defRPr>
            </a:pPr>
            <a:r>
              <a:t>BINARY (DERAJAT 2 — 85% KASUS)</a:t>
            </a:r>
          </a:p>
          <a:p>
            <a:pPr>
              <a:defRPr sz="1250">
                <a:solidFill>
                  <a:srgbClr val="0F172A"/>
                </a:solidFill>
              </a:defRPr>
            </a:pPr>
            <a:r>
              <a:t>Relasi menghubungkan dua tipe entitas berbeda. | Contoh Utama Akademik:</a:t>
            </a:r>
            <a:br/>
            <a:r>
              <a:t>MAHASISWA  ──&lt; mengambil &gt;──  MATA_KULIAH</a:t>
            </a:r>
            <a:br/>
            <a:r>
              <a:t>(Bentuk relasi paling dominan dalam perancangan database).</a:t>
            </a:r>
          </a:p>
        </p:txBody>
      </p:sp>
      <p:sp>
        <p:nvSpPr>
          <p:cNvPr id="10" name="Rounded Rectangle 9"/>
          <p:cNvSpPr/>
          <p:nvPr/>
        </p:nvSpPr>
        <p:spPr>
          <a:xfrm>
            <a:off x="731520" y="4535424"/>
            <a:ext cx="10698480" cy="1371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4535424"/>
            <a:ext cx="1069848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672584"/>
            <a:ext cx="10149840" cy="1097280"/>
          </a:xfrm>
          <a:prstGeom prst="rect">
            <a:avLst/>
          </a:prstGeom>
          <a:noFill/>
        </p:spPr>
        <p:txBody>
          <a:bodyPr wrap="square">
            <a:spAutoFit/>
          </a:bodyPr>
          <a:lstStyle/>
          <a:p>
            <a:pPr>
              <a:defRPr b="1" sz="1300">
                <a:solidFill>
                  <a:srgbClr val="D97706"/>
                </a:solidFill>
              </a:defRPr>
            </a:pPr>
            <a:r>
              <a:t>TERNARY (DERAJAT 3)</a:t>
            </a:r>
          </a:p>
          <a:p>
            <a:pPr>
              <a:defRPr sz="1250">
                <a:solidFill>
                  <a:srgbClr val="0F172A"/>
                </a:solidFill>
              </a:defRPr>
            </a:pPr>
            <a:r>
              <a:t>Relasi mengikat tiga tipe entitas berbeda secara simultan. | Contoh Kasus Medis:</a:t>
            </a:r>
            <a:br/>
            <a:r>
              <a:t>DOKTER meresepkan OBAT kepada PASIEN</a:t>
            </a:r>
            <a:br/>
            <a:r>
              <a:t>(Ketiganya terikat dalam satu transaksi resep tunggal).</a:t>
            </a:r>
          </a:p>
        </p:txBody>
      </p:sp>
      <p:sp>
        <p:nvSpPr>
          <p:cNvPr id="13" name="TextBox 12"/>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14 dari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Kardinalitas 1:1 (One-to-One): Aturan Tepat Satu</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2563EB"/>
                </a:solidFill>
              </a:defRPr>
            </a:pPr>
            <a:r>
              <a:t>UJI DUA ARAH WAJIB (DUAL-TEST)</a:t>
            </a:r>
          </a:p>
          <a:p>
            <a:pPr>
              <a:lnSpc>
                <a:spcPct val="115000"/>
              </a:lnSpc>
              <a:spcAft>
                <a:spcPts val="1200"/>
              </a:spcAft>
            </a:pPr>
            <a:r>
              <a:rPr b="1" sz="1300">
                <a:solidFill>
                  <a:srgbClr val="2563EB"/>
                </a:solidFill>
                <a:latin typeface="Arial"/>
              </a:rPr>
              <a:t>Arah 1 (Kiri -&gt; Kanan)  </a:t>
            </a:r>
            <a:r>
              <a:rPr b="0" sz="1300">
                <a:solidFill>
                  <a:srgbClr val="0F172A"/>
                </a:solidFill>
                <a:latin typeface="Arial"/>
              </a:rPr>
              <a:t>Satu Dosen berhak menempati TEPAT SATU Ruang Kerja Pribadi.</a:t>
            </a:r>
          </a:p>
          <a:p>
            <a:pPr>
              <a:lnSpc>
                <a:spcPct val="115000"/>
              </a:lnSpc>
              <a:spcAft>
                <a:spcPts val="1200"/>
              </a:spcAft>
            </a:pPr>
            <a:r>
              <a:rPr b="1" sz="1300">
                <a:solidFill>
                  <a:srgbClr val="2563EB"/>
                </a:solidFill>
                <a:latin typeface="Arial"/>
              </a:rPr>
              <a:t>Arah 2 (Kanan -&gt; Kiri)  </a:t>
            </a:r>
            <a:r>
              <a:rPr b="0" sz="1300">
                <a:solidFill>
                  <a:srgbClr val="0F172A"/>
                </a:solidFill>
                <a:latin typeface="Arial"/>
              </a:rPr>
              <a:t>Satu Ruang Kerja Pribadi hanya dihuni oleh TEPAT SATU Dosen.</a:t>
            </a:r>
          </a:p>
          <a:p>
            <a:pPr>
              <a:lnSpc>
                <a:spcPct val="115000"/>
              </a:lnSpc>
              <a:spcAft>
                <a:spcPts val="1200"/>
              </a:spcAft>
            </a:pPr>
            <a:r>
              <a:rPr b="1" sz="1300">
                <a:solidFill>
                  <a:srgbClr val="2563EB"/>
                </a:solidFill>
                <a:latin typeface="Arial"/>
              </a:rPr>
              <a:t>Peringatan Bisnis  </a:t>
            </a:r>
            <a:r>
              <a:rPr b="0" sz="1300">
                <a:solidFill>
                  <a:srgbClr val="0F172A"/>
                </a:solidFill>
                <a:latin typeface="Arial"/>
              </a:rPr>
              <a:t>Jika di dunia nyata 1 ruang kerja boleh dihuni oleh 3 dosen bersama-sama, aturan 1:1 ini gugur dan berubah menjadi 1:N!</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57200"/>
          </a:xfrm>
          <a:prstGeom prst="rect">
            <a:avLst/>
          </a:prstGeom>
          <a:noFill/>
        </p:spPr>
        <p:txBody>
          <a:bodyPr wrap="none">
            <a:spAutoFit/>
          </a:bodyPr>
          <a:lstStyle/>
          <a:p>
            <a:pPr>
              <a:defRPr b="1" sz="1400">
                <a:solidFill>
                  <a:srgbClr val="0D9488"/>
                </a:solidFill>
              </a:defRPr>
            </a:pPr>
            <a:r>
              <a:t>REPRESENTASI DIAGRAM CHEN 1:1</a:t>
            </a:r>
          </a:p>
        </p:txBody>
      </p:sp>
      <p:sp>
        <p:nvSpPr>
          <p:cNvPr id="10" name="Rectangle 9"/>
          <p:cNvSpPr/>
          <p:nvPr/>
        </p:nvSpPr>
        <p:spPr>
          <a:xfrm>
            <a:off x="6583680" y="2926080"/>
            <a:ext cx="1463040" cy="7315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3108960"/>
            <a:ext cx="1463040" cy="457200"/>
          </a:xfrm>
          <a:prstGeom prst="rect">
            <a:avLst/>
          </a:prstGeom>
          <a:noFill/>
        </p:spPr>
        <p:txBody>
          <a:bodyPr wrap="none">
            <a:spAutoFit/>
          </a:bodyPr>
          <a:lstStyle/>
          <a:p>
            <a:r>
              <a:t>DOSEN</a:t>
            </a:r>
          </a:p>
        </p:txBody>
      </p:sp>
      <p:sp>
        <p:nvSpPr>
          <p:cNvPr id="12" name="TextBox 11"/>
          <p:cNvSpPr txBox="1"/>
          <p:nvPr/>
        </p:nvSpPr>
        <p:spPr>
          <a:xfrm>
            <a:off x="6583680" y="3108960"/>
            <a:ext cx="1463040" cy="457200"/>
          </a:xfrm>
          <a:prstGeom prst="rect">
            <a:avLst/>
          </a:prstGeom>
          <a:noFill/>
        </p:spPr>
        <p:txBody>
          <a:bodyPr wrap="none">
            <a:spAutoFit/>
          </a:bodyPr>
          <a:lstStyle/>
          <a:p>
            <a:pPr algn="ctr"/>
          </a:p>
        </p:txBody>
      </p:sp>
      <p:sp>
        <p:nvSpPr>
          <p:cNvPr id="13" name="Diamond 12"/>
          <p:cNvSpPr/>
          <p:nvPr/>
        </p:nvSpPr>
        <p:spPr>
          <a:xfrm>
            <a:off x="8321040" y="2834640"/>
            <a:ext cx="1097280" cy="914400"/>
          </a:xfrm>
          <a:prstGeom prst="diamond">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3108960"/>
            <a:ext cx="1097280" cy="457200"/>
          </a:xfrm>
          <a:prstGeom prst="rect">
            <a:avLst/>
          </a:prstGeom>
          <a:noFill/>
        </p:spPr>
        <p:txBody>
          <a:bodyPr wrap="none">
            <a:spAutoFit/>
          </a:bodyPr>
          <a:lstStyle/>
          <a:p>
            <a:r>
              <a:t>memiliki</a:t>
            </a:r>
          </a:p>
        </p:txBody>
      </p:sp>
      <p:sp>
        <p:nvSpPr>
          <p:cNvPr id="15" name="TextBox 14"/>
          <p:cNvSpPr txBox="1"/>
          <p:nvPr/>
        </p:nvSpPr>
        <p:spPr>
          <a:xfrm>
            <a:off x="8321040" y="3108960"/>
            <a:ext cx="1097280" cy="457200"/>
          </a:xfrm>
          <a:prstGeom prst="rect">
            <a:avLst/>
          </a:prstGeom>
          <a:noFill/>
        </p:spPr>
        <p:txBody>
          <a:bodyPr wrap="none">
            <a:spAutoFit/>
          </a:bodyPr>
          <a:lstStyle/>
          <a:p>
            <a:pPr algn="ctr"/>
          </a:p>
        </p:txBody>
      </p:sp>
      <p:sp>
        <p:nvSpPr>
          <p:cNvPr id="16" name="Rectangle 15"/>
          <p:cNvSpPr/>
          <p:nvPr/>
        </p:nvSpPr>
        <p:spPr>
          <a:xfrm>
            <a:off x="9692640" y="2926080"/>
            <a:ext cx="1463040" cy="7315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0" y="3108960"/>
            <a:ext cx="1463040" cy="457200"/>
          </a:xfrm>
          <a:prstGeom prst="rect">
            <a:avLst/>
          </a:prstGeom>
          <a:noFill/>
        </p:spPr>
        <p:txBody>
          <a:bodyPr wrap="none">
            <a:spAutoFit/>
          </a:bodyPr>
          <a:lstStyle/>
          <a:p>
            <a:r>
              <a:t>RUANG</a:t>
            </a:r>
          </a:p>
        </p:txBody>
      </p:sp>
      <p:sp>
        <p:nvSpPr>
          <p:cNvPr id="18" name="TextBox 17"/>
          <p:cNvSpPr txBox="1"/>
          <p:nvPr/>
        </p:nvSpPr>
        <p:spPr>
          <a:xfrm>
            <a:off x="9692640" y="3108960"/>
            <a:ext cx="1463040" cy="457200"/>
          </a:xfrm>
          <a:prstGeom prst="rect">
            <a:avLst/>
          </a:prstGeom>
          <a:noFill/>
        </p:spPr>
        <p:txBody>
          <a:bodyPr wrap="none">
            <a:spAutoFit/>
          </a:bodyPr>
          <a:lstStyle/>
          <a:p>
            <a:pPr algn="ctr"/>
          </a:p>
        </p:txBody>
      </p:sp>
      <p:sp>
        <p:nvSpPr>
          <p:cNvPr id="19" name="TextBox 18"/>
          <p:cNvSpPr txBox="1"/>
          <p:nvPr/>
        </p:nvSpPr>
        <p:spPr>
          <a:xfrm>
            <a:off x="6492240" y="4297680"/>
            <a:ext cx="4663440" cy="914400"/>
          </a:xfrm>
          <a:prstGeom prst="rect">
            <a:avLst/>
          </a:prstGeom>
          <a:noFill/>
        </p:spPr>
        <p:txBody>
          <a:bodyPr wrap="none">
            <a:spAutoFit/>
          </a:bodyPr>
          <a:lstStyle/>
          <a:p>
            <a:pPr>
              <a:defRPr b="1" sz="1300">
                <a:solidFill>
                  <a:srgbClr val="2563EB"/>
                </a:solidFill>
              </a:defRPr>
            </a:pPr>
            <a:r>
              <a:t>Label Kardinalitas: DOSEN (1) ───── (1) RUANG</a:t>
            </a:r>
            <a:br/>
            <a:r>
              <a:t>Kedua arah menghasilkan batasan maksimum satu.</a:t>
            </a:r>
          </a:p>
        </p:txBody>
      </p:sp>
      <p:sp>
        <p:nvSpPr>
          <p:cNvPr id="20" name="TextBox 1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15 dari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Kardinalitas 1:N (One-to-Many): Asimetri Hubungan</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2563EB"/>
                </a:solidFill>
              </a:defRPr>
            </a:pPr>
            <a:r>
              <a:t>PEMBACAAN ASIMETRIS KARDINALITAS</a:t>
            </a:r>
          </a:p>
          <a:p>
            <a:pPr>
              <a:lnSpc>
                <a:spcPct val="115000"/>
              </a:lnSpc>
              <a:spcAft>
                <a:spcPts val="1200"/>
              </a:spcAft>
            </a:pPr>
            <a:r>
              <a:rPr b="1" sz="1300">
                <a:solidFill>
                  <a:srgbClr val="2563EB"/>
                </a:solidFill>
                <a:latin typeface="Arial"/>
              </a:rPr>
              <a:t>Arah Maju (1 -&gt; N)  </a:t>
            </a:r>
            <a:r>
              <a:rPr b="0" sz="1300">
                <a:solidFill>
                  <a:srgbClr val="0F172A"/>
                </a:solidFill>
                <a:latin typeface="Arial"/>
              </a:rPr>
              <a:t>Satu Program Studi dapat memiliki BANYAK (N) Mahasiswa aktif terdaftar.</a:t>
            </a:r>
          </a:p>
          <a:p>
            <a:pPr>
              <a:lnSpc>
                <a:spcPct val="115000"/>
              </a:lnSpc>
              <a:spcAft>
                <a:spcPts val="1200"/>
              </a:spcAft>
            </a:pPr>
            <a:r>
              <a:rPr b="1" sz="1300">
                <a:solidFill>
                  <a:srgbClr val="2563EB"/>
                </a:solidFill>
                <a:latin typeface="Arial"/>
              </a:rPr>
              <a:t>Arah Balik (N -&gt; 1)  </a:t>
            </a:r>
            <a:r>
              <a:rPr b="0" sz="1300">
                <a:solidFill>
                  <a:srgbClr val="0F172A"/>
                </a:solidFill>
                <a:latin typeface="Arial"/>
              </a:rPr>
              <a:t>Satu Mahasiswa hanya boleh terdaftar pada TEPAT SATU Program Studi.</a:t>
            </a:r>
          </a:p>
          <a:p>
            <a:pPr>
              <a:lnSpc>
                <a:spcPct val="115000"/>
              </a:lnSpc>
              <a:spcAft>
                <a:spcPts val="1200"/>
              </a:spcAft>
            </a:pPr>
            <a:r>
              <a:rPr b="1" sz="1300">
                <a:solidFill>
                  <a:srgbClr val="2563EB"/>
                </a:solidFill>
                <a:latin typeface="Arial"/>
              </a:rPr>
              <a:t>Peran Parent - Child  </a:t>
            </a:r>
            <a:r>
              <a:rPr b="0" sz="1300">
                <a:solidFill>
                  <a:srgbClr val="0F172A"/>
                </a:solidFill>
                <a:latin typeface="Arial"/>
              </a:rPr>
              <a:t>Sisi '1' bertindak sebagai induk (Parent), dan sisi 'N' bertindak sebagai anak (Child) yang menyimpan referensi ke parent.</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57200"/>
          </a:xfrm>
          <a:prstGeom prst="rect">
            <a:avLst/>
          </a:prstGeom>
          <a:noFill/>
        </p:spPr>
        <p:txBody>
          <a:bodyPr wrap="none">
            <a:spAutoFit/>
          </a:bodyPr>
          <a:lstStyle/>
          <a:p>
            <a:pPr>
              <a:defRPr b="1" sz="1400">
                <a:solidFill>
                  <a:srgbClr val="0D9488"/>
                </a:solidFill>
              </a:defRPr>
            </a:pPr>
            <a:r>
              <a:t>REPRESENTASI DIAGRAM CHEN 1:N</a:t>
            </a:r>
          </a:p>
        </p:txBody>
      </p:sp>
      <p:sp>
        <p:nvSpPr>
          <p:cNvPr id="10" name="Rectangle 9"/>
          <p:cNvSpPr/>
          <p:nvPr/>
        </p:nvSpPr>
        <p:spPr>
          <a:xfrm>
            <a:off x="6492240" y="2926080"/>
            <a:ext cx="1554480" cy="7315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108960"/>
            <a:ext cx="1554480" cy="457200"/>
          </a:xfrm>
          <a:prstGeom prst="rect">
            <a:avLst/>
          </a:prstGeom>
          <a:noFill/>
        </p:spPr>
        <p:txBody>
          <a:bodyPr wrap="none">
            <a:spAutoFit/>
          </a:bodyPr>
          <a:lstStyle/>
          <a:p>
            <a:r>
              <a:t>PRODI</a:t>
            </a:r>
          </a:p>
        </p:txBody>
      </p:sp>
      <p:sp>
        <p:nvSpPr>
          <p:cNvPr id="12" name="TextBox 11"/>
          <p:cNvSpPr txBox="1"/>
          <p:nvPr/>
        </p:nvSpPr>
        <p:spPr>
          <a:xfrm>
            <a:off x="6492240" y="3108960"/>
            <a:ext cx="1554480" cy="457200"/>
          </a:xfrm>
          <a:prstGeom prst="rect">
            <a:avLst/>
          </a:prstGeom>
          <a:noFill/>
        </p:spPr>
        <p:txBody>
          <a:bodyPr wrap="none">
            <a:spAutoFit/>
          </a:bodyPr>
          <a:lstStyle/>
          <a:p>
            <a:pPr algn="ctr"/>
          </a:p>
        </p:txBody>
      </p:sp>
      <p:sp>
        <p:nvSpPr>
          <p:cNvPr id="13" name="Diamond 12"/>
          <p:cNvSpPr/>
          <p:nvPr/>
        </p:nvSpPr>
        <p:spPr>
          <a:xfrm>
            <a:off x="8321040" y="2834640"/>
            <a:ext cx="1097280" cy="914400"/>
          </a:xfrm>
          <a:prstGeom prst="diamond">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3108960"/>
            <a:ext cx="1097280" cy="457200"/>
          </a:xfrm>
          <a:prstGeom prst="rect">
            <a:avLst/>
          </a:prstGeom>
          <a:noFill/>
        </p:spPr>
        <p:txBody>
          <a:bodyPr wrap="none">
            <a:spAutoFit/>
          </a:bodyPr>
          <a:lstStyle/>
          <a:p>
            <a:r>
              <a:t>memiliki</a:t>
            </a:r>
          </a:p>
        </p:txBody>
      </p:sp>
      <p:sp>
        <p:nvSpPr>
          <p:cNvPr id="15" name="TextBox 14"/>
          <p:cNvSpPr txBox="1"/>
          <p:nvPr/>
        </p:nvSpPr>
        <p:spPr>
          <a:xfrm>
            <a:off x="8321040" y="3108960"/>
            <a:ext cx="1097280" cy="457200"/>
          </a:xfrm>
          <a:prstGeom prst="rect">
            <a:avLst/>
          </a:prstGeom>
          <a:noFill/>
        </p:spPr>
        <p:txBody>
          <a:bodyPr wrap="none">
            <a:spAutoFit/>
          </a:bodyPr>
          <a:lstStyle/>
          <a:p>
            <a:pPr algn="ctr"/>
          </a:p>
        </p:txBody>
      </p:sp>
      <p:sp>
        <p:nvSpPr>
          <p:cNvPr id="16" name="Rectangle 15"/>
          <p:cNvSpPr/>
          <p:nvPr/>
        </p:nvSpPr>
        <p:spPr>
          <a:xfrm>
            <a:off x="9692640" y="2926080"/>
            <a:ext cx="1554480" cy="7315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0" y="3108960"/>
            <a:ext cx="1554480" cy="457200"/>
          </a:xfrm>
          <a:prstGeom prst="rect">
            <a:avLst/>
          </a:prstGeom>
          <a:noFill/>
        </p:spPr>
        <p:txBody>
          <a:bodyPr wrap="none">
            <a:spAutoFit/>
          </a:bodyPr>
          <a:lstStyle/>
          <a:p>
            <a:r>
              <a:t>MHS</a:t>
            </a:r>
          </a:p>
        </p:txBody>
      </p:sp>
      <p:sp>
        <p:nvSpPr>
          <p:cNvPr id="18" name="TextBox 17"/>
          <p:cNvSpPr txBox="1"/>
          <p:nvPr/>
        </p:nvSpPr>
        <p:spPr>
          <a:xfrm>
            <a:off x="9692640" y="3108960"/>
            <a:ext cx="1554480" cy="457200"/>
          </a:xfrm>
          <a:prstGeom prst="rect">
            <a:avLst/>
          </a:prstGeom>
          <a:noFill/>
        </p:spPr>
        <p:txBody>
          <a:bodyPr wrap="none">
            <a:spAutoFit/>
          </a:bodyPr>
          <a:lstStyle/>
          <a:p>
            <a:pPr algn="ctr"/>
          </a:p>
        </p:txBody>
      </p:sp>
      <p:sp>
        <p:nvSpPr>
          <p:cNvPr id="19" name="TextBox 18"/>
          <p:cNvSpPr txBox="1"/>
          <p:nvPr/>
        </p:nvSpPr>
        <p:spPr>
          <a:xfrm>
            <a:off x="6492240" y="4297680"/>
            <a:ext cx="4663440" cy="914400"/>
          </a:xfrm>
          <a:prstGeom prst="rect">
            <a:avLst/>
          </a:prstGeom>
          <a:noFill/>
        </p:spPr>
        <p:txBody>
          <a:bodyPr wrap="none">
            <a:spAutoFit/>
          </a:bodyPr>
          <a:lstStyle/>
          <a:p>
            <a:pPr>
              <a:defRPr b="1" sz="1300">
                <a:solidFill>
                  <a:srgbClr val="2563EB"/>
                </a:solidFill>
              </a:defRPr>
            </a:pPr>
            <a:r>
              <a:t>Label Kardinalitas: PRODI (1) ───── (N) MAHASISWA</a:t>
            </a:r>
            <a:br/>
            <a:r>
              <a:t>Sisi prodi bernilai 1, sisi mahasiswa bernilai banyak (N).</a:t>
            </a:r>
          </a:p>
        </p:txBody>
      </p:sp>
      <p:sp>
        <p:nvSpPr>
          <p:cNvPr id="20" name="TextBox 1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16 dari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Kardinalitas M:N (Many-to-Many): Hubungan Bersilang Jamak</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EA580C"/>
                </a:solidFill>
              </a:defRPr>
            </a:pPr>
            <a:r>
              <a:t>ANALISIS DUA ARAH M:N</a:t>
            </a:r>
          </a:p>
          <a:p>
            <a:pPr>
              <a:lnSpc>
                <a:spcPct val="115000"/>
              </a:lnSpc>
              <a:spcAft>
                <a:spcPts val="1200"/>
              </a:spcAft>
            </a:pPr>
            <a:r>
              <a:rPr b="1" sz="1300">
                <a:solidFill>
                  <a:srgbClr val="EA580C"/>
                </a:solidFill>
                <a:latin typeface="Arial"/>
              </a:rPr>
              <a:t>Arah 1 (Mhs -&gt; MK)  </a:t>
            </a:r>
            <a:r>
              <a:rPr b="0" sz="1300">
                <a:solidFill>
                  <a:srgbClr val="0F172A"/>
                </a:solidFill>
                <a:latin typeface="Arial"/>
              </a:rPr>
              <a:t>Satu Mahasiswa dapat mengambil BANYAK (M) Mata Kuliah tiap semester.</a:t>
            </a:r>
          </a:p>
          <a:p>
            <a:pPr>
              <a:lnSpc>
                <a:spcPct val="115000"/>
              </a:lnSpc>
              <a:spcAft>
                <a:spcPts val="1200"/>
              </a:spcAft>
            </a:pPr>
            <a:r>
              <a:rPr b="1" sz="1300">
                <a:solidFill>
                  <a:srgbClr val="EA580C"/>
                </a:solidFill>
                <a:latin typeface="Arial"/>
              </a:rPr>
              <a:t>Arah 2 (MK -&gt; Mhs)  </a:t>
            </a:r>
            <a:r>
              <a:rPr b="0" sz="1300">
                <a:solidFill>
                  <a:srgbClr val="0F172A"/>
                </a:solidFill>
                <a:latin typeface="Arial"/>
              </a:rPr>
              <a:t>Satu Mata Kuliah dapat diambil oleh BANYAK (N) Mahasiswa berbeda.</a:t>
            </a:r>
          </a:p>
          <a:p>
            <a:pPr>
              <a:lnSpc>
                <a:spcPct val="115000"/>
              </a:lnSpc>
              <a:spcAft>
                <a:spcPts val="1200"/>
              </a:spcAft>
            </a:pPr>
            <a:r>
              <a:rPr b="1" sz="1300">
                <a:solidFill>
                  <a:srgbClr val="EA580C"/>
                </a:solidFill>
                <a:latin typeface="Arial"/>
              </a:rPr>
              <a:t>Konsekuensi Fisik  </a:t>
            </a:r>
            <a:r>
              <a:rPr b="0" sz="1300">
                <a:solidFill>
                  <a:srgbClr val="0F172A"/>
                </a:solidFill>
                <a:latin typeface="Arial"/>
              </a:rPr>
              <a:t>Di tahap implementasi tabel SQL nanti, relasi M:N wajib dipecah menjadi dua relasi 1:N melalui entitas asosiasi (KRS / NILAI).</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57200"/>
          </a:xfrm>
          <a:prstGeom prst="rect">
            <a:avLst/>
          </a:prstGeom>
          <a:noFill/>
        </p:spPr>
        <p:txBody>
          <a:bodyPr wrap="none">
            <a:spAutoFit/>
          </a:bodyPr>
          <a:lstStyle/>
          <a:p>
            <a:pPr>
              <a:defRPr b="1" sz="1400">
                <a:solidFill>
                  <a:srgbClr val="2563EB"/>
                </a:solidFill>
              </a:defRPr>
            </a:pPr>
            <a:r>
              <a:t>REPRESENTASI DIAGRAM CHEN M:N</a:t>
            </a:r>
          </a:p>
        </p:txBody>
      </p:sp>
      <p:sp>
        <p:nvSpPr>
          <p:cNvPr id="10" name="Rectangle 9"/>
          <p:cNvSpPr/>
          <p:nvPr/>
        </p:nvSpPr>
        <p:spPr>
          <a:xfrm>
            <a:off x="6492240" y="2926080"/>
            <a:ext cx="1554480" cy="7315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108960"/>
            <a:ext cx="1554480" cy="457200"/>
          </a:xfrm>
          <a:prstGeom prst="rect">
            <a:avLst/>
          </a:prstGeom>
          <a:noFill/>
        </p:spPr>
        <p:txBody>
          <a:bodyPr wrap="none">
            <a:spAutoFit/>
          </a:bodyPr>
          <a:lstStyle/>
          <a:p>
            <a:r>
              <a:t>MAHASISWA</a:t>
            </a:r>
          </a:p>
        </p:txBody>
      </p:sp>
      <p:sp>
        <p:nvSpPr>
          <p:cNvPr id="12" name="TextBox 11"/>
          <p:cNvSpPr txBox="1"/>
          <p:nvPr/>
        </p:nvSpPr>
        <p:spPr>
          <a:xfrm>
            <a:off x="6492240" y="3108960"/>
            <a:ext cx="1554480" cy="457200"/>
          </a:xfrm>
          <a:prstGeom prst="rect">
            <a:avLst/>
          </a:prstGeom>
          <a:noFill/>
        </p:spPr>
        <p:txBody>
          <a:bodyPr wrap="none">
            <a:spAutoFit/>
          </a:bodyPr>
          <a:lstStyle/>
          <a:p>
            <a:pPr algn="ctr"/>
          </a:p>
        </p:txBody>
      </p:sp>
      <p:sp>
        <p:nvSpPr>
          <p:cNvPr id="13" name="Diamond 12"/>
          <p:cNvSpPr/>
          <p:nvPr/>
        </p:nvSpPr>
        <p:spPr>
          <a:xfrm>
            <a:off x="8321040" y="2834640"/>
            <a:ext cx="1097280" cy="914400"/>
          </a:xfrm>
          <a:prstGeom prst="diamond">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3108960"/>
            <a:ext cx="1097280" cy="457200"/>
          </a:xfrm>
          <a:prstGeom prst="rect">
            <a:avLst/>
          </a:prstGeom>
          <a:noFill/>
        </p:spPr>
        <p:txBody>
          <a:bodyPr wrap="none">
            <a:spAutoFit/>
          </a:bodyPr>
          <a:lstStyle/>
          <a:p>
            <a:r>
              <a:t>mengambil</a:t>
            </a:r>
          </a:p>
        </p:txBody>
      </p:sp>
      <p:sp>
        <p:nvSpPr>
          <p:cNvPr id="15" name="TextBox 14"/>
          <p:cNvSpPr txBox="1"/>
          <p:nvPr/>
        </p:nvSpPr>
        <p:spPr>
          <a:xfrm>
            <a:off x="8321040" y="3108960"/>
            <a:ext cx="1097280" cy="457200"/>
          </a:xfrm>
          <a:prstGeom prst="rect">
            <a:avLst/>
          </a:prstGeom>
          <a:noFill/>
        </p:spPr>
        <p:txBody>
          <a:bodyPr wrap="none">
            <a:spAutoFit/>
          </a:bodyPr>
          <a:lstStyle/>
          <a:p>
            <a:pPr algn="ctr"/>
          </a:p>
        </p:txBody>
      </p:sp>
      <p:sp>
        <p:nvSpPr>
          <p:cNvPr id="16" name="Rectangle 15"/>
          <p:cNvSpPr/>
          <p:nvPr/>
        </p:nvSpPr>
        <p:spPr>
          <a:xfrm>
            <a:off x="9692640" y="2926080"/>
            <a:ext cx="1554480" cy="7315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0" y="3108960"/>
            <a:ext cx="1554480" cy="457200"/>
          </a:xfrm>
          <a:prstGeom prst="rect">
            <a:avLst/>
          </a:prstGeom>
          <a:noFill/>
        </p:spPr>
        <p:txBody>
          <a:bodyPr wrap="none">
            <a:spAutoFit/>
          </a:bodyPr>
          <a:lstStyle/>
          <a:p>
            <a:r>
              <a:t>MATA_KULIAH</a:t>
            </a:r>
          </a:p>
        </p:txBody>
      </p:sp>
      <p:sp>
        <p:nvSpPr>
          <p:cNvPr id="18" name="TextBox 17"/>
          <p:cNvSpPr txBox="1"/>
          <p:nvPr/>
        </p:nvSpPr>
        <p:spPr>
          <a:xfrm>
            <a:off x="9692640" y="3108960"/>
            <a:ext cx="1554480" cy="457200"/>
          </a:xfrm>
          <a:prstGeom prst="rect">
            <a:avLst/>
          </a:prstGeom>
          <a:noFill/>
        </p:spPr>
        <p:txBody>
          <a:bodyPr wrap="none">
            <a:spAutoFit/>
          </a:bodyPr>
          <a:lstStyle/>
          <a:p>
            <a:pPr algn="ctr"/>
          </a:p>
        </p:txBody>
      </p:sp>
      <p:sp>
        <p:nvSpPr>
          <p:cNvPr id="19" name="TextBox 18"/>
          <p:cNvSpPr txBox="1"/>
          <p:nvPr/>
        </p:nvSpPr>
        <p:spPr>
          <a:xfrm>
            <a:off x="6492240" y="4297680"/>
            <a:ext cx="4663440" cy="914400"/>
          </a:xfrm>
          <a:prstGeom prst="rect">
            <a:avLst/>
          </a:prstGeom>
          <a:noFill/>
        </p:spPr>
        <p:txBody>
          <a:bodyPr wrap="none">
            <a:spAutoFit/>
          </a:bodyPr>
          <a:lstStyle/>
          <a:p>
            <a:pPr>
              <a:defRPr b="1" sz="1300">
                <a:solidFill>
                  <a:srgbClr val="EA580C"/>
                </a:solidFill>
              </a:defRPr>
            </a:pPr>
            <a:r>
              <a:t>Label Kardinalitas: MAHASISWA (M) ───── (N) MATA_KULIAH</a:t>
            </a:r>
            <a:br/>
            <a:r>
              <a:t>Kedua sisi bernilai banyak sehingga menghasilkan Many-to-Many.</a:t>
            </a:r>
          </a:p>
        </p:txBody>
      </p:sp>
      <p:sp>
        <p:nvSpPr>
          <p:cNvPr id="20" name="TextBox 1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17 dari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Komparasi Visual: Notasi Chen vs Crow's Foot</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57200"/>
          </a:xfrm>
          <a:prstGeom prst="rect">
            <a:avLst/>
          </a:prstGeom>
          <a:noFill/>
        </p:spPr>
        <p:txBody>
          <a:bodyPr wrap="none">
            <a:spAutoFit/>
          </a:bodyPr>
          <a:lstStyle/>
          <a:p>
            <a:pPr>
              <a:defRPr b="1" sz="1400">
                <a:solidFill>
                  <a:srgbClr val="2563EB"/>
                </a:solidFill>
              </a:defRPr>
            </a:pPr>
            <a:r>
              <a:t>NOTASI PETER CHEN (1976)</a:t>
            </a:r>
          </a:p>
        </p:txBody>
      </p:sp>
      <p:sp>
        <p:nvSpPr>
          <p:cNvPr id="7" name="TextBox 6"/>
          <p:cNvSpPr txBox="1"/>
          <p:nvPr/>
        </p:nvSpPr>
        <p:spPr>
          <a:xfrm>
            <a:off x="1005840" y="2148840"/>
            <a:ext cx="4572000" cy="3657600"/>
          </a:xfrm>
          <a:prstGeom prst="rect">
            <a:avLst/>
          </a:prstGeom>
          <a:noFill/>
        </p:spPr>
        <p:txBody>
          <a:bodyPr wrap="square">
            <a:spAutoFit/>
          </a:bodyPr>
          <a:lstStyle/>
          <a:p>
            <a:pPr>
              <a:lnSpc>
                <a:spcPct val="115000"/>
              </a:lnSpc>
              <a:spcAft>
                <a:spcPts val="1000"/>
              </a:spcAft>
            </a:pPr>
            <a:r>
              <a:rPr b="1" sz="1300">
                <a:solidFill>
                  <a:srgbClr val="2563EB"/>
                </a:solidFill>
                <a:latin typeface="Arial"/>
              </a:rPr>
              <a:t>Entitas  </a:t>
            </a:r>
            <a:r>
              <a:rPr b="0" sz="1300">
                <a:solidFill>
                  <a:srgbClr val="0F172A"/>
                </a:solidFill>
                <a:latin typeface="Arial"/>
              </a:rPr>
              <a:t>Kotak Persegi Panjang tunggal / ganda.</a:t>
            </a:r>
          </a:p>
          <a:p>
            <a:pPr>
              <a:lnSpc>
                <a:spcPct val="115000"/>
              </a:lnSpc>
              <a:spcAft>
                <a:spcPts val="1000"/>
              </a:spcAft>
            </a:pPr>
            <a:r>
              <a:rPr b="1" sz="1300">
                <a:solidFill>
                  <a:srgbClr val="2563EB"/>
                </a:solidFill>
                <a:latin typeface="Arial"/>
              </a:rPr>
              <a:t>Atribut  </a:t>
            </a:r>
            <a:r>
              <a:rPr b="0" sz="1300">
                <a:solidFill>
                  <a:srgbClr val="0F172A"/>
                </a:solidFill>
                <a:latin typeface="Arial"/>
              </a:rPr>
              <a:t>Oval bercabang mengelilingi kotak entitas.</a:t>
            </a:r>
          </a:p>
          <a:p>
            <a:pPr>
              <a:lnSpc>
                <a:spcPct val="115000"/>
              </a:lnSpc>
              <a:spcAft>
                <a:spcPts val="1000"/>
              </a:spcAft>
            </a:pPr>
            <a:r>
              <a:rPr b="1" sz="1300">
                <a:solidFill>
                  <a:srgbClr val="2563EB"/>
                </a:solidFill>
                <a:latin typeface="Arial"/>
              </a:rPr>
              <a:t>Relasi  </a:t>
            </a:r>
            <a:r>
              <a:rPr b="0" sz="1300">
                <a:solidFill>
                  <a:srgbClr val="0F172A"/>
                </a:solidFill>
                <a:latin typeface="Arial"/>
              </a:rPr>
              <a:t>Belah Ketupat / Diamond.</a:t>
            </a:r>
          </a:p>
          <a:p>
            <a:pPr>
              <a:lnSpc>
                <a:spcPct val="115000"/>
              </a:lnSpc>
              <a:spcAft>
                <a:spcPts val="1000"/>
              </a:spcAft>
            </a:pPr>
            <a:r>
              <a:rPr b="1" sz="1300">
                <a:solidFill>
                  <a:srgbClr val="2563EB"/>
                </a:solidFill>
                <a:latin typeface="Arial"/>
              </a:rPr>
              <a:t>Karakter  </a:t>
            </a:r>
            <a:r>
              <a:rPr b="0" sz="1300">
                <a:solidFill>
                  <a:srgbClr val="0F172A"/>
                </a:solidFill>
                <a:latin typeface="Arial"/>
              </a:rPr>
              <a:t>Sangat ekspresif untuk pemodelan semantik awal dan literatur teoritis akademis.</a:t>
            </a:r>
          </a:p>
        </p:txBody>
      </p:sp>
      <p:sp>
        <p:nvSpPr>
          <p:cNvPr id="8" name="Rounded Rectangle 7"/>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0" y="1463040"/>
            <a:ext cx="521208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91640"/>
            <a:ext cx="4663440" cy="457200"/>
          </a:xfrm>
          <a:prstGeom prst="rect">
            <a:avLst/>
          </a:prstGeom>
          <a:noFill/>
        </p:spPr>
        <p:txBody>
          <a:bodyPr wrap="none">
            <a:spAutoFit/>
          </a:bodyPr>
          <a:lstStyle/>
          <a:p>
            <a:pPr>
              <a:defRPr b="1" sz="1400">
                <a:solidFill>
                  <a:srgbClr val="0D9488"/>
                </a:solidFill>
              </a:defRPr>
            </a:pPr>
            <a:r>
              <a:t>NOTASI CROW'S FOOT (BARKER / MARTIN)</a:t>
            </a:r>
          </a:p>
        </p:txBody>
      </p:sp>
      <p:sp>
        <p:nvSpPr>
          <p:cNvPr id="11" name="TextBox 10"/>
          <p:cNvSpPr txBox="1"/>
          <p:nvPr/>
        </p:nvSpPr>
        <p:spPr>
          <a:xfrm>
            <a:off x="6492240" y="2148840"/>
            <a:ext cx="4663440" cy="3657600"/>
          </a:xfrm>
          <a:prstGeom prst="rect">
            <a:avLst/>
          </a:prstGeom>
          <a:noFill/>
        </p:spPr>
        <p:txBody>
          <a:bodyPr wrap="square">
            <a:spAutoFit/>
          </a:bodyPr>
          <a:lstStyle/>
          <a:p>
            <a:pPr>
              <a:lnSpc>
                <a:spcPct val="115000"/>
              </a:lnSpc>
              <a:spcAft>
                <a:spcPts val="1000"/>
              </a:spcAft>
            </a:pPr>
            <a:r>
              <a:rPr b="1" sz="1300">
                <a:solidFill>
                  <a:srgbClr val="0D9488"/>
                </a:solidFill>
                <a:latin typeface="Arial"/>
              </a:rPr>
              <a:t>Entitas  </a:t>
            </a:r>
            <a:r>
              <a:rPr b="0" sz="1300">
                <a:solidFill>
                  <a:srgbClr val="0F172A"/>
                </a:solidFill>
                <a:latin typeface="Arial"/>
              </a:rPr>
              <a:t>Tabel persegi dengan nama di bagian header.</a:t>
            </a:r>
          </a:p>
          <a:p>
            <a:pPr>
              <a:lnSpc>
                <a:spcPct val="115000"/>
              </a:lnSpc>
              <a:spcAft>
                <a:spcPts val="1000"/>
              </a:spcAft>
            </a:pPr>
            <a:r>
              <a:rPr b="1" sz="1300">
                <a:solidFill>
                  <a:srgbClr val="0D9488"/>
                </a:solidFill>
                <a:latin typeface="Arial"/>
              </a:rPr>
              <a:t>Atribut  </a:t>
            </a:r>
            <a:r>
              <a:rPr b="0" sz="1300">
                <a:solidFill>
                  <a:srgbClr val="0F172A"/>
                </a:solidFill>
                <a:latin typeface="Arial"/>
              </a:rPr>
              <a:t>Dituliskan langsung di dalam badan tabel.</a:t>
            </a:r>
          </a:p>
          <a:p>
            <a:pPr>
              <a:lnSpc>
                <a:spcPct val="115000"/>
              </a:lnSpc>
              <a:spcAft>
                <a:spcPts val="1000"/>
              </a:spcAft>
            </a:pPr>
            <a:r>
              <a:rPr b="1" sz="1300">
                <a:solidFill>
                  <a:srgbClr val="0D9488"/>
                </a:solidFill>
                <a:latin typeface="Arial"/>
              </a:rPr>
              <a:t>Relasi  </a:t>
            </a:r>
            <a:r>
              <a:rPr b="0" sz="1300">
                <a:solidFill>
                  <a:srgbClr val="0F172A"/>
                </a:solidFill>
                <a:latin typeface="Arial"/>
              </a:rPr>
              <a:t>Garis penghubung langsung dengan simbol ujung kaki gagak.</a:t>
            </a:r>
          </a:p>
          <a:p>
            <a:pPr>
              <a:lnSpc>
                <a:spcPct val="115000"/>
              </a:lnSpc>
              <a:spcAft>
                <a:spcPts val="1000"/>
              </a:spcAft>
            </a:pPr>
            <a:r>
              <a:rPr b="1" sz="1300">
                <a:solidFill>
                  <a:srgbClr val="0D9488"/>
                </a:solidFill>
                <a:latin typeface="Arial"/>
              </a:rPr>
              <a:t>Karakter  </a:t>
            </a:r>
            <a:r>
              <a:rPr b="0" sz="1300">
                <a:solidFill>
                  <a:srgbClr val="0F172A"/>
                </a:solidFill>
                <a:latin typeface="Arial"/>
              </a:rPr>
              <a:t>Sangat praktis, hemat kanvas, standar de-facto perkakas CASE industri software.</a:t>
            </a:r>
          </a:p>
        </p:txBody>
      </p:sp>
      <p:sp>
        <p:nvSpPr>
          <p:cNvPr id="12" name="TextBox 11"/>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18 dari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Cara Membaca Simbol Notasi Crow's Foot</a:t>
            </a:r>
          </a:p>
        </p:txBody>
      </p:sp>
      <p:sp>
        <p:nvSpPr>
          <p:cNvPr id="4" name="Rounded Rectangle 3"/>
          <p:cNvSpPr/>
          <p:nvPr/>
        </p:nvSpPr>
        <p:spPr>
          <a:xfrm>
            <a:off x="731520" y="1463040"/>
            <a:ext cx="254203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25420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267712" cy="914400"/>
          </a:xfrm>
          <a:prstGeom prst="rect">
            <a:avLst/>
          </a:prstGeom>
          <a:noFill/>
        </p:spPr>
        <p:txBody>
          <a:bodyPr wrap="none">
            <a:spAutoFit/>
          </a:bodyPr>
          <a:lstStyle/>
          <a:p>
            <a:pPr algn="ctr">
              <a:defRPr sz="3600" b="1">
                <a:solidFill>
                  <a:srgbClr val="2563EB"/>
                </a:solidFill>
                <a:latin typeface="Consolas"/>
              </a:defRPr>
            </a:pPr>
            <a:r>
              <a:t>||</a:t>
            </a:r>
          </a:p>
        </p:txBody>
      </p:sp>
      <p:sp>
        <p:nvSpPr>
          <p:cNvPr id="7" name="TextBox 6"/>
          <p:cNvSpPr txBox="1"/>
          <p:nvPr/>
        </p:nvSpPr>
        <p:spPr>
          <a:xfrm>
            <a:off x="868680" y="2743200"/>
            <a:ext cx="2267712" cy="3108960"/>
          </a:xfrm>
          <a:prstGeom prst="rect">
            <a:avLst/>
          </a:prstGeom>
          <a:noFill/>
        </p:spPr>
        <p:txBody>
          <a:bodyPr wrap="square">
            <a:spAutoFit/>
          </a:bodyPr>
          <a:lstStyle/>
          <a:p>
            <a:pPr>
              <a:spcAft>
                <a:spcPts val="1000"/>
              </a:spcAft>
              <a:defRPr b="1" sz="1300">
                <a:solidFill>
                  <a:srgbClr val="2563EB"/>
                </a:solidFill>
              </a:defRPr>
            </a:pPr>
            <a:r>
              <a:t>Exactly One (Tepat Satu)</a:t>
            </a:r>
          </a:p>
          <a:p>
            <a:pPr>
              <a:lnSpc>
                <a:spcPct val="120000"/>
              </a:lnSpc>
              <a:defRPr sz="1200">
                <a:solidFill>
                  <a:srgbClr val="0F172A"/>
                </a:solidFill>
              </a:defRPr>
            </a:pPr>
            <a:r>
              <a:t>Wajib berhubungan dengan tepat satu instance. Tidak boleh kosong dan tidak boleh jamak.</a:t>
            </a:r>
          </a:p>
        </p:txBody>
      </p:sp>
      <p:sp>
        <p:nvSpPr>
          <p:cNvPr id="8" name="Rounded Rectangle 7"/>
          <p:cNvSpPr/>
          <p:nvPr/>
        </p:nvSpPr>
        <p:spPr>
          <a:xfrm>
            <a:off x="3456432" y="1463040"/>
            <a:ext cx="254203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56432" y="1463040"/>
            <a:ext cx="25420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592" y="1737360"/>
            <a:ext cx="2267712" cy="914400"/>
          </a:xfrm>
          <a:prstGeom prst="rect">
            <a:avLst/>
          </a:prstGeom>
          <a:noFill/>
        </p:spPr>
        <p:txBody>
          <a:bodyPr wrap="none">
            <a:spAutoFit/>
          </a:bodyPr>
          <a:lstStyle/>
          <a:p>
            <a:pPr algn="ctr">
              <a:defRPr sz="3600" b="1">
                <a:solidFill>
                  <a:srgbClr val="0D9488"/>
                </a:solidFill>
                <a:latin typeface="Consolas"/>
              </a:defRPr>
            </a:pPr>
            <a:r>
              <a:t>O|</a:t>
            </a:r>
          </a:p>
        </p:txBody>
      </p:sp>
      <p:sp>
        <p:nvSpPr>
          <p:cNvPr id="11" name="TextBox 10"/>
          <p:cNvSpPr txBox="1"/>
          <p:nvPr/>
        </p:nvSpPr>
        <p:spPr>
          <a:xfrm>
            <a:off x="3593592" y="2743200"/>
            <a:ext cx="2267712" cy="3108960"/>
          </a:xfrm>
          <a:prstGeom prst="rect">
            <a:avLst/>
          </a:prstGeom>
          <a:noFill/>
        </p:spPr>
        <p:txBody>
          <a:bodyPr wrap="square">
            <a:spAutoFit/>
          </a:bodyPr>
          <a:lstStyle/>
          <a:p>
            <a:pPr>
              <a:spcAft>
                <a:spcPts val="1000"/>
              </a:spcAft>
              <a:defRPr b="1" sz="1300">
                <a:solidFill>
                  <a:srgbClr val="0D9488"/>
                </a:solidFill>
              </a:defRPr>
            </a:pPr>
            <a:r>
              <a:t>Zero or One (Nol atau Satu)</a:t>
            </a:r>
          </a:p>
          <a:p>
            <a:pPr>
              <a:lnSpc>
                <a:spcPct val="120000"/>
              </a:lnSpc>
              <a:defRPr sz="1200">
                <a:solidFill>
                  <a:srgbClr val="0F172A"/>
                </a:solidFill>
              </a:defRPr>
            </a:pPr>
            <a:r>
              <a:t>Relasi bersifat opsional; jika ada, maksimal terhubung ke satu instance.</a:t>
            </a:r>
          </a:p>
        </p:txBody>
      </p:sp>
      <p:sp>
        <p:nvSpPr>
          <p:cNvPr id="12" name="Rounded Rectangle 11"/>
          <p:cNvSpPr/>
          <p:nvPr/>
        </p:nvSpPr>
        <p:spPr>
          <a:xfrm>
            <a:off x="6181344" y="1463040"/>
            <a:ext cx="254203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81344" y="1463040"/>
            <a:ext cx="2542032"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737360"/>
            <a:ext cx="2267712" cy="914400"/>
          </a:xfrm>
          <a:prstGeom prst="rect">
            <a:avLst/>
          </a:prstGeom>
          <a:noFill/>
        </p:spPr>
        <p:txBody>
          <a:bodyPr wrap="none">
            <a:spAutoFit/>
          </a:bodyPr>
          <a:lstStyle/>
          <a:p>
            <a:pPr algn="ctr">
              <a:defRPr sz="3600" b="1">
                <a:solidFill>
                  <a:srgbClr val="D97706"/>
                </a:solidFill>
                <a:latin typeface="Consolas"/>
              </a:defRPr>
            </a:pPr>
            <a:r>
              <a:t>|&lt;</a:t>
            </a:r>
          </a:p>
        </p:txBody>
      </p:sp>
      <p:sp>
        <p:nvSpPr>
          <p:cNvPr id="15" name="TextBox 14"/>
          <p:cNvSpPr txBox="1"/>
          <p:nvPr/>
        </p:nvSpPr>
        <p:spPr>
          <a:xfrm>
            <a:off x="6318504" y="2743200"/>
            <a:ext cx="2267712" cy="3108960"/>
          </a:xfrm>
          <a:prstGeom prst="rect">
            <a:avLst/>
          </a:prstGeom>
          <a:noFill/>
        </p:spPr>
        <p:txBody>
          <a:bodyPr wrap="square">
            <a:spAutoFit/>
          </a:bodyPr>
          <a:lstStyle/>
          <a:p>
            <a:pPr>
              <a:spcAft>
                <a:spcPts val="1000"/>
              </a:spcAft>
              <a:defRPr b="1" sz="1300">
                <a:solidFill>
                  <a:srgbClr val="D97706"/>
                </a:solidFill>
              </a:defRPr>
            </a:pPr>
            <a:r>
              <a:t>One or Many (Satu atau Banyak)</a:t>
            </a:r>
          </a:p>
          <a:p>
            <a:pPr>
              <a:lnSpc>
                <a:spcPct val="120000"/>
              </a:lnSpc>
              <a:defRPr sz="1200">
                <a:solidFill>
                  <a:srgbClr val="0F172A"/>
                </a:solidFill>
              </a:defRPr>
            </a:pPr>
            <a:r>
              <a:t>Wajib memiliki minimal satu relasi, dan boleh berhubungan dengan banyak instance.</a:t>
            </a:r>
          </a:p>
        </p:txBody>
      </p:sp>
      <p:sp>
        <p:nvSpPr>
          <p:cNvPr id="16" name="Rounded Rectangle 15"/>
          <p:cNvSpPr/>
          <p:nvPr/>
        </p:nvSpPr>
        <p:spPr>
          <a:xfrm>
            <a:off x="8906256" y="1463040"/>
            <a:ext cx="2542032"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06256" y="1463040"/>
            <a:ext cx="2542032"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1737360"/>
            <a:ext cx="2267712" cy="914400"/>
          </a:xfrm>
          <a:prstGeom prst="rect">
            <a:avLst/>
          </a:prstGeom>
          <a:noFill/>
        </p:spPr>
        <p:txBody>
          <a:bodyPr wrap="none">
            <a:spAutoFit/>
          </a:bodyPr>
          <a:lstStyle/>
          <a:p>
            <a:pPr algn="ctr">
              <a:defRPr sz="3600" b="1">
                <a:solidFill>
                  <a:srgbClr val="EA580C"/>
                </a:solidFill>
                <a:latin typeface="Consolas"/>
              </a:defRPr>
            </a:pPr>
            <a:r>
              <a:t>O&lt;</a:t>
            </a:r>
          </a:p>
        </p:txBody>
      </p:sp>
      <p:sp>
        <p:nvSpPr>
          <p:cNvPr id="19" name="TextBox 18"/>
          <p:cNvSpPr txBox="1"/>
          <p:nvPr/>
        </p:nvSpPr>
        <p:spPr>
          <a:xfrm>
            <a:off x="9043416" y="2743200"/>
            <a:ext cx="2267712" cy="3108960"/>
          </a:xfrm>
          <a:prstGeom prst="rect">
            <a:avLst/>
          </a:prstGeom>
          <a:noFill/>
        </p:spPr>
        <p:txBody>
          <a:bodyPr wrap="square">
            <a:spAutoFit/>
          </a:bodyPr>
          <a:lstStyle/>
          <a:p>
            <a:pPr>
              <a:spcAft>
                <a:spcPts val="1000"/>
              </a:spcAft>
              <a:defRPr b="1" sz="1300">
                <a:solidFill>
                  <a:srgbClr val="EA580C"/>
                </a:solidFill>
              </a:defRPr>
            </a:pPr>
            <a:r>
              <a:t>Zero or Many (Nol atau Banyak)</a:t>
            </a:r>
          </a:p>
          <a:p>
            <a:pPr>
              <a:lnSpc>
                <a:spcPct val="120000"/>
              </a:lnSpc>
              <a:defRPr sz="1200">
                <a:solidFill>
                  <a:srgbClr val="0F172A"/>
                </a:solidFill>
              </a:defRPr>
            </a:pPr>
            <a:r>
              <a:t>Relasi opsional; boleh tidak memiliki pasangan, atau boleh memiliki banyak pasangan.</a:t>
            </a:r>
          </a:p>
        </p:txBody>
      </p:sp>
      <p:sp>
        <p:nvSpPr>
          <p:cNvPr id="20" name="TextBox 1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19 dari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Studi Kasus Analisis: Domain Sistem Akademik</a:t>
            </a:r>
          </a:p>
        </p:txBody>
      </p:sp>
      <p:sp>
        <p:nvSpPr>
          <p:cNvPr id="4" name="Rounded Rectangle 3"/>
          <p:cNvSpPr/>
          <p:nvPr/>
        </p:nvSpPr>
        <p:spPr>
          <a:xfrm>
            <a:off x="731520" y="1463040"/>
            <a:ext cx="10698480"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106984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914400"/>
          </a:xfrm>
          <a:prstGeom prst="rect">
            <a:avLst/>
          </a:prstGeom>
          <a:noFill/>
        </p:spPr>
        <p:txBody>
          <a:bodyPr wrap="square">
            <a:spAutoFit/>
          </a:bodyPr>
          <a:lstStyle/>
          <a:p>
            <a:pPr>
              <a:defRPr b="1" sz="1100">
                <a:solidFill>
                  <a:srgbClr val="2563EB"/>
                </a:solidFill>
              </a:defRPr>
            </a:pPr>
            <a:r>
              <a:t>SKENARIO KASUS AKADEMIK UNIVERSITAS:</a:t>
            </a:r>
          </a:p>
          <a:p>
            <a:pPr>
              <a:defRPr sz="1350">
                <a:solidFill>
                  <a:srgbClr val="0F172A"/>
                </a:solidFill>
              </a:defRPr>
            </a:pPr>
            <a:r>
              <a:t>"Sebuah program studi menyelenggarakan banyak mata kuliah. Mahasiswa terdaftar pada satu prodi dan mengambil beberapa mata kuliah. Setiap mata kuliah dikoordinasi oleh seorang dosen pengampu, dan dosen dapat mengajar beberapa kelas mata kuliah."</a:t>
            </a:r>
          </a:p>
        </p:txBody>
      </p:sp>
      <p:sp>
        <p:nvSpPr>
          <p:cNvPr id="7" name="Rounded Rectangle 6"/>
          <p:cNvSpPr/>
          <p:nvPr/>
        </p:nvSpPr>
        <p:spPr>
          <a:xfrm>
            <a:off x="731520" y="2834640"/>
            <a:ext cx="3456432"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83464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17520"/>
            <a:ext cx="3090672" cy="2834640"/>
          </a:xfrm>
          <a:prstGeom prst="rect">
            <a:avLst/>
          </a:prstGeom>
          <a:noFill/>
        </p:spPr>
        <p:txBody>
          <a:bodyPr wrap="square">
            <a:spAutoFit/>
          </a:bodyPr>
          <a:lstStyle/>
          <a:p>
            <a:pPr>
              <a:spcAft>
                <a:spcPts val="1200"/>
              </a:spcAft>
              <a:defRPr b="1" sz="1300">
                <a:solidFill>
                  <a:srgbClr val="2563EB"/>
                </a:solidFill>
              </a:defRPr>
            </a:pPr>
            <a:r>
              <a:t>ENTITAS TERIDENTIFIKASI</a:t>
            </a:r>
          </a:p>
          <a:p>
            <a:pPr>
              <a:spcAft>
                <a:spcPts val="800"/>
              </a:spcAft>
              <a:defRPr sz="1250">
                <a:solidFill>
                  <a:srgbClr val="0F172A"/>
                </a:solidFill>
              </a:defRPr>
            </a:pPr>
            <a:r>
              <a:t>• PROGRAM_STUDI</a:t>
            </a:r>
          </a:p>
          <a:p>
            <a:pPr>
              <a:spcAft>
                <a:spcPts val="800"/>
              </a:spcAft>
              <a:defRPr sz="1250">
                <a:solidFill>
                  <a:srgbClr val="0F172A"/>
                </a:solidFill>
              </a:defRPr>
            </a:pPr>
            <a:r>
              <a:t>• MAHASISWA</a:t>
            </a:r>
          </a:p>
          <a:p>
            <a:pPr>
              <a:spcAft>
                <a:spcPts val="800"/>
              </a:spcAft>
              <a:defRPr sz="1250">
                <a:solidFill>
                  <a:srgbClr val="0F172A"/>
                </a:solidFill>
              </a:defRPr>
            </a:pPr>
            <a:r>
              <a:t>• MATA_KULIAH</a:t>
            </a:r>
          </a:p>
          <a:p>
            <a:pPr>
              <a:spcAft>
                <a:spcPts val="800"/>
              </a:spcAft>
              <a:defRPr sz="1250">
                <a:solidFill>
                  <a:srgbClr val="0F172A"/>
                </a:solidFill>
              </a:defRPr>
            </a:pPr>
            <a:r>
              <a:t>• DOSEN</a:t>
            </a:r>
          </a:p>
        </p:txBody>
      </p:sp>
      <p:sp>
        <p:nvSpPr>
          <p:cNvPr id="10" name="Rounded Rectangle 9"/>
          <p:cNvSpPr/>
          <p:nvPr/>
        </p:nvSpPr>
        <p:spPr>
          <a:xfrm>
            <a:off x="4370832" y="2834640"/>
            <a:ext cx="3456432"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70832" y="283464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3017520"/>
            <a:ext cx="3090672" cy="2834640"/>
          </a:xfrm>
          <a:prstGeom prst="rect">
            <a:avLst/>
          </a:prstGeom>
          <a:noFill/>
        </p:spPr>
        <p:txBody>
          <a:bodyPr wrap="square">
            <a:spAutoFit/>
          </a:bodyPr>
          <a:lstStyle/>
          <a:p>
            <a:pPr>
              <a:spcAft>
                <a:spcPts val="1200"/>
              </a:spcAft>
              <a:defRPr b="1" sz="1300">
                <a:solidFill>
                  <a:srgbClr val="0D9488"/>
                </a:solidFill>
              </a:defRPr>
            </a:pPr>
            <a:r>
              <a:t>PRIMARY KEY IDENTIFIER</a:t>
            </a:r>
          </a:p>
          <a:p>
            <a:pPr>
              <a:spcAft>
                <a:spcPts val="800"/>
              </a:spcAft>
              <a:defRPr sz="1250">
                <a:solidFill>
                  <a:srgbClr val="0F172A"/>
                </a:solidFill>
              </a:defRPr>
            </a:pPr>
            <a:r>
              <a:t>• KodeProdi (PK Prodi)</a:t>
            </a:r>
          </a:p>
          <a:p>
            <a:pPr>
              <a:spcAft>
                <a:spcPts val="800"/>
              </a:spcAft>
              <a:defRPr sz="1250">
                <a:solidFill>
                  <a:srgbClr val="0F172A"/>
                </a:solidFill>
              </a:defRPr>
            </a:pPr>
            <a:r>
              <a:t>• NIM (PK Mahasiswa)</a:t>
            </a:r>
          </a:p>
          <a:p>
            <a:pPr>
              <a:spcAft>
                <a:spcPts val="800"/>
              </a:spcAft>
              <a:defRPr sz="1250">
                <a:solidFill>
                  <a:srgbClr val="0F172A"/>
                </a:solidFill>
              </a:defRPr>
            </a:pPr>
            <a:r>
              <a:t>• KodeMK (PK Mata Kuliah)</a:t>
            </a:r>
          </a:p>
          <a:p>
            <a:pPr>
              <a:spcAft>
                <a:spcPts val="800"/>
              </a:spcAft>
              <a:defRPr sz="1250">
                <a:solidFill>
                  <a:srgbClr val="0F172A"/>
                </a:solidFill>
              </a:defRPr>
            </a:pPr>
            <a:r>
              <a:t>• NIDN (PK Dosen)</a:t>
            </a:r>
          </a:p>
        </p:txBody>
      </p:sp>
      <p:sp>
        <p:nvSpPr>
          <p:cNvPr id="13" name="Rounded Rectangle 12"/>
          <p:cNvSpPr/>
          <p:nvPr/>
        </p:nvSpPr>
        <p:spPr>
          <a:xfrm>
            <a:off x="8010144" y="2834640"/>
            <a:ext cx="3456432"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10144" y="2834640"/>
            <a:ext cx="3456432"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93024" y="3017520"/>
            <a:ext cx="3090672" cy="2834640"/>
          </a:xfrm>
          <a:prstGeom prst="rect">
            <a:avLst/>
          </a:prstGeom>
          <a:noFill/>
        </p:spPr>
        <p:txBody>
          <a:bodyPr wrap="square">
            <a:spAutoFit/>
          </a:bodyPr>
          <a:lstStyle/>
          <a:p>
            <a:pPr>
              <a:spcAft>
                <a:spcPts val="1200"/>
              </a:spcAft>
              <a:defRPr b="1" sz="1300">
                <a:solidFill>
                  <a:srgbClr val="EA580C"/>
                </a:solidFill>
              </a:defRPr>
            </a:pPr>
            <a:r>
              <a:t>RELASI &amp; KARDINALITAS</a:t>
            </a:r>
          </a:p>
          <a:p>
            <a:pPr>
              <a:spcAft>
                <a:spcPts val="800"/>
              </a:spcAft>
              <a:defRPr sz="1250">
                <a:solidFill>
                  <a:srgbClr val="0F172A"/>
                </a:solidFill>
              </a:defRPr>
            </a:pPr>
            <a:r>
              <a:t>• Prodi  ──(1:N)──&gt;  Mahasiswa</a:t>
            </a:r>
          </a:p>
          <a:p>
            <a:pPr>
              <a:spcAft>
                <a:spcPts val="800"/>
              </a:spcAft>
              <a:defRPr sz="1250">
                <a:solidFill>
                  <a:srgbClr val="0F172A"/>
                </a:solidFill>
              </a:defRPr>
            </a:pPr>
            <a:r>
              <a:t>• Mahasiswa  ──(M:N)──&gt;  MK</a:t>
            </a:r>
          </a:p>
          <a:p>
            <a:pPr>
              <a:spcAft>
                <a:spcPts val="800"/>
              </a:spcAft>
              <a:defRPr sz="1250">
                <a:solidFill>
                  <a:srgbClr val="0F172A"/>
                </a:solidFill>
              </a:defRPr>
            </a:pPr>
            <a:r>
              <a:t>• Dosen  ──(1:N)──&gt;  Mata Kuliah</a:t>
            </a:r>
          </a:p>
        </p:txBody>
      </p:sp>
      <p:sp>
        <p:nvSpPr>
          <p:cNvPr id="16" name="TextBox 15"/>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20 dari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Guided Exercise: 6 Langkah Metodologis Narasi ke ERD</a:t>
            </a:r>
          </a:p>
        </p:txBody>
      </p:sp>
      <p:sp>
        <p:nvSpPr>
          <p:cNvPr id="4" name="Rounded Rectangle 3"/>
          <p:cNvSpPr/>
          <p:nvPr/>
        </p:nvSpPr>
        <p:spPr>
          <a:xfrm>
            <a:off x="731520"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27632"/>
            <a:ext cx="3090672" cy="1737360"/>
          </a:xfrm>
          <a:prstGeom prst="rect">
            <a:avLst/>
          </a:prstGeom>
          <a:noFill/>
        </p:spPr>
        <p:txBody>
          <a:bodyPr wrap="square">
            <a:spAutoFit/>
          </a:bodyPr>
          <a:lstStyle/>
          <a:p>
            <a:pPr>
              <a:defRPr b="1" sz="1050">
                <a:solidFill>
                  <a:srgbClr val="2563EB"/>
                </a:solidFill>
              </a:defRPr>
            </a:pPr>
            <a:r>
              <a:t>LANGKAH 01</a:t>
            </a:r>
          </a:p>
          <a:p>
            <a:pPr>
              <a:spcAft>
                <a:spcPts val="600"/>
              </a:spcAft>
              <a:defRPr b="1" sz="1300">
                <a:solidFill>
                  <a:srgbClr val="0F172A"/>
                </a:solidFill>
              </a:defRPr>
            </a:pPr>
            <a:r>
              <a:t>Ekstraksi Kata Benda</a:t>
            </a:r>
          </a:p>
          <a:p>
            <a:pPr>
              <a:defRPr sz="1150">
                <a:solidFill>
                  <a:srgbClr val="64748B"/>
                </a:solidFill>
              </a:defRPr>
            </a:pPr>
            <a:r>
              <a:t>Identifikasi objek mandiri yang informasinya wajib dicatat -&gt; Kandidat ENTITAS.</a:t>
            </a:r>
          </a:p>
        </p:txBody>
      </p:sp>
      <p:sp>
        <p:nvSpPr>
          <p:cNvPr id="7" name="Rounded Rectangle 6"/>
          <p:cNvSpPr/>
          <p:nvPr/>
        </p:nvSpPr>
        <p:spPr>
          <a:xfrm>
            <a:off x="4370832"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0832" y="146304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53712" y="1627632"/>
            <a:ext cx="3090672" cy="1737360"/>
          </a:xfrm>
          <a:prstGeom prst="rect">
            <a:avLst/>
          </a:prstGeom>
          <a:noFill/>
        </p:spPr>
        <p:txBody>
          <a:bodyPr wrap="square">
            <a:spAutoFit/>
          </a:bodyPr>
          <a:lstStyle/>
          <a:p>
            <a:pPr>
              <a:defRPr b="1" sz="1050">
                <a:solidFill>
                  <a:srgbClr val="0D9488"/>
                </a:solidFill>
              </a:defRPr>
            </a:pPr>
            <a:r>
              <a:t>LANGKAH 02</a:t>
            </a:r>
          </a:p>
          <a:p>
            <a:pPr>
              <a:spcAft>
                <a:spcPts val="600"/>
              </a:spcAft>
              <a:defRPr b="1" sz="1300">
                <a:solidFill>
                  <a:srgbClr val="0F172A"/>
                </a:solidFill>
              </a:defRPr>
            </a:pPr>
            <a:r>
              <a:t>Identifikasi Karakteristik</a:t>
            </a:r>
          </a:p>
          <a:p>
            <a:pPr>
              <a:defRPr sz="1150">
                <a:solidFill>
                  <a:srgbClr val="64748B"/>
                </a:solidFill>
              </a:defRPr>
            </a:pPr>
            <a:r>
              <a:t>Temukan ciri dan detail penjelas yang melekat pada tiap objek -&gt; ATRIBUT.</a:t>
            </a:r>
          </a:p>
        </p:txBody>
      </p:sp>
      <p:sp>
        <p:nvSpPr>
          <p:cNvPr id="10" name="Rounded Rectangle 9"/>
          <p:cNvSpPr/>
          <p:nvPr/>
        </p:nvSpPr>
        <p:spPr>
          <a:xfrm>
            <a:off x="8010144" y="146304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10144" y="1463040"/>
            <a:ext cx="3456432"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3024" y="1627632"/>
            <a:ext cx="3090672" cy="1737360"/>
          </a:xfrm>
          <a:prstGeom prst="rect">
            <a:avLst/>
          </a:prstGeom>
          <a:noFill/>
        </p:spPr>
        <p:txBody>
          <a:bodyPr wrap="square">
            <a:spAutoFit/>
          </a:bodyPr>
          <a:lstStyle/>
          <a:p>
            <a:pPr>
              <a:defRPr b="1" sz="1050">
                <a:solidFill>
                  <a:srgbClr val="D97706"/>
                </a:solidFill>
              </a:defRPr>
            </a:pPr>
            <a:r>
              <a:t>LANGKAH 03</a:t>
            </a:r>
          </a:p>
          <a:p>
            <a:pPr>
              <a:spcAft>
                <a:spcPts val="600"/>
              </a:spcAft>
              <a:defRPr b="1" sz="1300">
                <a:solidFill>
                  <a:srgbClr val="0F172A"/>
                </a:solidFill>
              </a:defRPr>
            </a:pPr>
            <a:r>
              <a:t>Penetapan Identifier</a:t>
            </a:r>
          </a:p>
          <a:p>
            <a:pPr>
              <a:defRPr sz="1150">
                <a:solidFill>
                  <a:srgbClr val="64748B"/>
                </a:solidFill>
              </a:defRPr>
            </a:pPr>
            <a:r>
              <a:t>Tentukan atribut yang dijamin unik mutlak tanpa duplikasi -&gt; PRIMARY KEY.</a:t>
            </a:r>
          </a:p>
        </p:txBody>
      </p:sp>
      <p:sp>
        <p:nvSpPr>
          <p:cNvPr id="13" name="Rounded Rectangle 12"/>
          <p:cNvSpPr/>
          <p:nvPr/>
        </p:nvSpPr>
        <p:spPr>
          <a:xfrm>
            <a:off x="731520"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703320"/>
            <a:ext cx="3456432" cy="73152"/>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867912"/>
            <a:ext cx="3090672" cy="1737360"/>
          </a:xfrm>
          <a:prstGeom prst="rect">
            <a:avLst/>
          </a:prstGeom>
          <a:noFill/>
        </p:spPr>
        <p:txBody>
          <a:bodyPr wrap="square">
            <a:spAutoFit/>
          </a:bodyPr>
          <a:lstStyle/>
          <a:p>
            <a:pPr>
              <a:defRPr b="1" sz="1050">
                <a:solidFill>
                  <a:srgbClr val="EA580C"/>
                </a:solidFill>
              </a:defRPr>
            </a:pPr>
            <a:r>
              <a:t>LANGKAH 04</a:t>
            </a:r>
          </a:p>
          <a:p>
            <a:pPr>
              <a:spcAft>
                <a:spcPts val="600"/>
              </a:spcAft>
              <a:defRPr b="1" sz="1300">
                <a:solidFill>
                  <a:srgbClr val="0F172A"/>
                </a:solidFill>
              </a:defRPr>
            </a:pPr>
            <a:r>
              <a:t>Ekstraksi Kata Kerja</a:t>
            </a:r>
          </a:p>
          <a:p>
            <a:pPr>
              <a:defRPr sz="1150">
                <a:solidFill>
                  <a:srgbClr val="64748B"/>
                </a:solidFill>
              </a:defRPr>
            </a:pPr>
            <a:r>
              <a:t>Identifikasi aksi interaksi operasional antar-objek -&gt; RELATIONSHIP.</a:t>
            </a:r>
          </a:p>
        </p:txBody>
      </p:sp>
      <p:sp>
        <p:nvSpPr>
          <p:cNvPr id="16" name="Rounded Rectangle 15"/>
          <p:cNvSpPr/>
          <p:nvPr/>
        </p:nvSpPr>
        <p:spPr>
          <a:xfrm>
            <a:off x="4370832"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70832" y="3703320"/>
            <a:ext cx="3456432"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3867912"/>
            <a:ext cx="3090672" cy="1737360"/>
          </a:xfrm>
          <a:prstGeom prst="rect">
            <a:avLst/>
          </a:prstGeom>
          <a:noFill/>
        </p:spPr>
        <p:txBody>
          <a:bodyPr wrap="square">
            <a:spAutoFit/>
          </a:bodyPr>
          <a:lstStyle/>
          <a:p>
            <a:pPr>
              <a:defRPr b="1" sz="1050">
                <a:solidFill>
                  <a:srgbClr val="2563EB"/>
                </a:solidFill>
              </a:defRPr>
            </a:pPr>
            <a:r>
              <a:t>LANGKAH 05</a:t>
            </a:r>
          </a:p>
          <a:p>
            <a:pPr>
              <a:spcAft>
                <a:spcPts val="600"/>
              </a:spcAft>
              <a:defRPr b="1" sz="1300">
                <a:solidFill>
                  <a:srgbClr val="0F172A"/>
                </a:solidFill>
              </a:defRPr>
            </a:pPr>
            <a:r>
              <a:t>Uji Batasan Kardinalitas</a:t>
            </a:r>
          </a:p>
          <a:p>
            <a:pPr>
              <a:defRPr sz="1150">
                <a:solidFill>
                  <a:srgbClr val="64748B"/>
                </a:solidFill>
              </a:defRPr>
            </a:pPr>
            <a:r>
              <a:t>Uji aturan bisnis secara bolak-balik dari kedua arah relasi -&gt; KARDINALITAS.</a:t>
            </a:r>
          </a:p>
        </p:txBody>
      </p:sp>
      <p:sp>
        <p:nvSpPr>
          <p:cNvPr id="19" name="Rounded Rectangle 18"/>
          <p:cNvSpPr/>
          <p:nvPr/>
        </p:nvSpPr>
        <p:spPr>
          <a:xfrm>
            <a:off x="8010144" y="3703320"/>
            <a:ext cx="3456432" cy="2057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10144" y="3703320"/>
            <a:ext cx="3456432"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3867912"/>
            <a:ext cx="3090672" cy="1737360"/>
          </a:xfrm>
          <a:prstGeom prst="rect">
            <a:avLst/>
          </a:prstGeom>
          <a:noFill/>
        </p:spPr>
        <p:txBody>
          <a:bodyPr wrap="square">
            <a:spAutoFit/>
          </a:bodyPr>
          <a:lstStyle/>
          <a:p>
            <a:pPr>
              <a:defRPr b="1" sz="1050">
                <a:solidFill>
                  <a:srgbClr val="0D9488"/>
                </a:solidFill>
              </a:defRPr>
            </a:pPr>
            <a:r>
              <a:t>LANGKAH 06</a:t>
            </a:r>
          </a:p>
          <a:p>
            <a:pPr>
              <a:spcAft>
                <a:spcPts val="600"/>
              </a:spcAft>
              <a:defRPr b="1" sz="1300">
                <a:solidFill>
                  <a:srgbClr val="0F172A"/>
                </a:solidFill>
              </a:defRPr>
            </a:pPr>
            <a:r>
              <a:t>Visualisasi &amp; Evaluasi</a:t>
            </a:r>
          </a:p>
          <a:p>
            <a:pPr>
              <a:defRPr sz="1150">
                <a:solidFill>
                  <a:srgbClr val="64748B"/>
                </a:solidFill>
              </a:defRPr>
            </a:pPr>
            <a:r>
              <a:t>Gambarkan diagram utuh (Chen / Crow's Foot) dan ceritakan ulang modelnya.</a:t>
            </a:r>
          </a:p>
        </p:txBody>
      </p:sp>
      <p:sp>
        <p:nvSpPr>
          <p:cNvPr id="22" name="TextBox 21"/>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21 dari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Tantangan Kasus Mandiri: Domain Pelayanan Klinik</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D97706"/>
                </a:solidFill>
              </a:defRPr>
            </a:pPr>
            <a:r>
              <a:t>SKENARIO KASUS KLINIK RAWAT JALAN</a:t>
            </a:r>
          </a:p>
          <a:p>
            <a:pPr>
              <a:lnSpc>
                <a:spcPct val="130000"/>
              </a:lnSpc>
              <a:defRPr sz="1350">
                <a:solidFill>
                  <a:srgbClr val="0F172A"/>
                </a:solidFill>
              </a:defRPr>
            </a:pPr>
            <a:r>
              <a:t>"Sebuah klinik memiliki pasien dan dokter. Pasien melakukan kunjungan ke klinik. Dalam setiap kunjungan, pasien diperiksa oleh dokter yang bertugas, menghasilkan diagnosis serta resep obat.</a:t>
            </a:r>
            <a:br/>
            <a:br/>
            <a:r>
              <a:t>Satu resep dapat memuat beberapa jenis obat dengan dosis tertentu. Seorang dokter dapat menangani banyak pasien, dan seorang pasien dapat berkunjung berulang kali."</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114800"/>
          </a:xfrm>
          <a:prstGeom prst="rect">
            <a:avLst/>
          </a:prstGeom>
          <a:noFill/>
        </p:spPr>
        <p:txBody>
          <a:bodyPr wrap="square">
            <a:spAutoFit/>
          </a:bodyPr>
          <a:lstStyle/>
          <a:p>
            <a:pPr>
              <a:spcAft>
                <a:spcPts val="1200"/>
              </a:spcAft>
              <a:defRPr b="1" sz="1400">
                <a:solidFill>
                  <a:srgbClr val="2563EB"/>
                </a:solidFill>
              </a:defRPr>
            </a:pPr>
            <a:r>
              <a:t>MISI MAHASISWA &amp; CLUE ARSITEKTUR</a:t>
            </a:r>
          </a:p>
          <a:p>
            <a:pPr>
              <a:lnSpc>
                <a:spcPct val="115000"/>
              </a:lnSpc>
              <a:spcAft>
                <a:spcPts val="800"/>
              </a:spcAft>
            </a:pPr>
            <a:r>
              <a:rPr b="1" sz="1300">
                <a:solidFill>
                  <a:srgbClr val="2563EB"/>
                </a:solidFill>
                <a:latin typeface="Arial"/>
              </a:rPr>
              <a:t>Tugas 1  </a:t>
            </a:r>
            <a:r>
              <a:rPr b="0" sz="1300">
                <a:solidFill>
                  <a:srgbClr val="0F172A"/>
                </a:solidFill>
                <a:latin typeface="Arial"/>
              </a:rPr>
              <a:t>Identifikasi minimal 4 Entitas utama dalam sistem klinik ini.</a:t>
            </a:r>
          </a:p>
          <a:p>
            <a:pPr>
              <a:lnSpc>
                <a:spcPct val="115000"/>
              </a:lnSpc>
              <a:spcAft>
                <a:spcPts val="800"/>
              </a:spcAft>
            </a:pPr>
            <a:r>
              <a:rPr b="1" sz="1300">
                <a:solidFill>
                  <a:srgbClr val="2563EB"/>
                </a:solidFill>
                <a:latin typeface="Arial"/>
              </a:rPr>
              <a:t>Tugas 2  </a:t>
            </a:r>
            <a:r>
              <a:rPr b="0" sz="1300">
                <a:solidFill>
                  <a:srgbClr val="0F172A"/>
                </a:solidFill>
                <a:latin typeface="Arial"/>
              </a:rPr>
              <a:t>Tentukan Primary Key yang logis untuk setiap entitas.</a:t>
            </a:r>
          </a:p>
          <a:p>
            <a:pPr>
              <a:lnSpc>
                <a:spcPct val="115000"/>
              </a:lnSpc>
              <a:spcAft>
                <a:spcPts val="800"/>
              </a:spcAft>
            </a:pPr>
            <a:r>
              <a:rPr b="1" sz="1300">
                <a:solidFill>
                  <a:srgbClr val="2563EB"/>
                </a:solidFill>
                <a:latin typeface="Arial"/>
              </a:rPr>
              <a:t>Tugas 3  </a:t>
            </a:r>
            <a:r>
              <a:rPr b="0" sz="1300">
                <a:solidFill>
                  <a:srgbClr val="0F172A"/>
                </a:solidFill>
                <a:latin typeface="Arial"/>
              </a:rPr>
              <a:t>Petakan hubungan relasi dan tentukan kardinalitasnya.</a:t>
            </a:r>
          </a:p>
          <a:p>
            <a:pPr>
              <a:lnSpc>
                <a:spcPct val="115000"/>
              </a:lnSpc>
              <a:spcAft>
                <a:spcPts val="800"/>
              </a:spcAft>
            </a:pPr>
            <a:r>
              <a:rPr b="1" sz="1300">
                <a:solidFill>
                  <a:srgbClr val="2563EB"/>
                </a:solidFill>
                <a:latin typeface="Arial"/>
              </a:rPr>
              <a:t>Tugas 4  </a:t>
            </a:r>
            <a:r>
              <a:rPr b="0" sz="1300">
                <a:solidFill>
                  <a:srgbClr val="0F172A"/>
                </a:solidFill>
                <a:latin typeface="Arial"/>
              </a:rPr>
              <a:t>Analisis: Apakah ada entitas lemah (Weak Entity) atau atribut multivalued?</a:t>
            </a:r>
          </a:p>
          <a:p>
            <a:pPr>
              <a:lnSpc>
                <a:spcPct val="115000"/>
              </a:lnSpc>
              <a:spcAft>
                <a:spcPts val="800"/>
              </a:spcAft>
            </a:pPr>
            <a:r>
              <a:rPr b="1" sz="1300">
                <a:solidFill>
                  <a:srgbClr val="D97706"/>
                </a:solidFill>
                <a:latin typeface="Arial"/>
              </a:rPr>
              <a:t>Petunjuk Dosen  </a:t>
            </a:r>
            <a:r>
              <a:rPr b="0" sz="1300">
                <a:solidFill>
                  <a:srgbClr val="0F172A"/>
                </a:solidFill>
                <a:latin typeface="Arial"/>
              </a:rPr>
              <a:t>Perhatikan entitas KUNJUNGAN dan RESEP. Apakah RESEP dapat eksis tanpa adanya KUNJUNGAN?</a:t>
            </a:r>
          </a:p>
        </p:txBody>
      </p:sp>
      <p:sp>
        <p:nvSpPr>
          <p:cNvPr id="10" name="TextBox 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22 dari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2563EB"/>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0F172A"/>
                </a:solidFill>
                <a:latin typeface="Arial"/>
              </a:defRPr>
            </a:pPr>
            <a:r>
              <a:t>Checklist Audit Kualitas Model ERD (Quality Gate)</a:t>
            </a:r>
          </a:p>
        </p:txBody>
      </p:sp>
      <p:sp>
        <p:nvSpPr>
          <p:cNvPr id="4" name="Rounded Rectangle 3"/>
          <p:cNvSpPr/>
          <p:nvPr/>
        </p:nvSpPr>
        <p:spPr>
          <a:xfrm>
            <a:off x="731520" y="146304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400">
                <a:solidFill>
                  <a:srgbClr val="0D9488"/>
                </a:solidFill>
              </a:defRPr>
            </a:pPr>
            <a:r>
              <a:t>AUDIT ENTITAS &amp; ATRIBUT</a:t>
            </a:r>
          </a:p>
          <a:p>
            <a:pPr>
              <a:lnSpc>
                <a:spcPct val="115000"/>
              </a:lnSpc>
              <a:spcAft>
                <a:spcPts val="1000"/>
              </a:spcAft>
            </a:pPr>
            <a:r>
              <a:rPr b="1" sz="1300">
                <a:solidFill>
                  <a:srgbClr val="0D9488"/>
                </a:solidFill>
                <a:latin typeface="Arial"/>
              </a:rPr>
              <a:t>[✓]  </a:t>
            </a:r>
            <a:r>
              <a:rPr b="0" sz="1300">
                <a:solidFill>
                  <a:srgbClr val="0F172A"/>
                </a:solidFill>
                <a:latin typeface="Arial"/>
              </a:rPr>
              <a:t>Semua entitas mewakili objek konseptual mandiri (bukan nama form antarmuka).</a:t>
            </a:r>
          </a:p>
          <a:p>
            <a:pPr>
              <a:lnSpc>
                <a:spcPct val="115000"/>
              </a:lnSpc>
              <a:spcAft>
                <a:spcPts val="1000"/>
              </a:spcAft>
            </a:pPr>
            <a:r>
              <a:rPr b="1" sz="1300">
                <a:solidFill>
                  <a:srgbClr val="0D9488"/>
                </a:solidFill>
                <a:latin typeface="Arial"/>
              </a:rPr>
              <a:t>[✓]  </a:t>
            </a:r>
            <a:r>
              <a:rPr b="0" sz="1300">
                <a:solidFill>
                  <a:srgbClr val="0F172A"/>
                </a:solidFill>
                <a:latin typeface="Arial"/>
              </a:rPr>
              <a:t>Setiap entitas mandiri memiliki Primary Key yang tegas, unik, dan NOT NULL.</a:t>
            </a:r>
          </a:p>
          <a:p>
            <a:pPr>
              <a:lnSpc>
                <a:spcPct val="115000"/>
              </a:lnSpc>
              <a:spcAft>
                <a:spcPts val="1000"/>
              </a:spcAft>
            </a:pPr>
            <a:r>
              <a:rPr b="1" sz="1300">
                <a:solidFill>
                  <a:srgbClr val="0D9488"/>
                </a:solidFill>
                <a:latin typeface="Arial"/>
              </a:rPr>
              <a:t>[✓]  </a:t>
            </a:r>
            <a:r>
              <a:rPr b="0" sz="1300">
                <a:solidFill>
                  <a:srgbClr val="0F172A"/>
                </a:solidFill>
                <a:latin typeface="Arial"/>
              </a:rPr>
              <a:t>Tidak ada atribut yang sebenarnya merupakan entitas terselubung.</a:t>
            </a:r>
          </a:p>
          <a:p>
            <a:pPr>
              <a:lnSpc>
                <a:spcPct val="115000"/>
              </a:lnSpc>
              <a:spcAft>
                <a:spcPts val="1000"/>
              </a:spcAft>
            </a:pPr>
            <a:r>
              <a:rPr b="1" sz="1300">
                <a:solidFill>
                  <a:srgbClr val="0D9488"/>
                </a:solidFill>
                <a:latin typeface="Arial"/>
              </a:rPr>
              <a:t>[✓]  </a:t>
            </a:r>
            <a:r>
              <a:rPr b="0" sz="1300">
                <a:solidFill>
                  <a:srgbClr val="0F172A"/>
                </a:solidFill>
                <a:latin typeface="Arial"/>
              </a:rPr>
              <a:t>Atribut komposit dan multivalued sudah ditandai dan dimodelkan secara tepat.</a:t>
            </a:r>
          </a:p>
          <a:p>
            <a:pPr>
              <a:lnSpc>
                <a:spcPct val="115000"/>
              </a:lnSpc>
              <a:spcAft>
                <a:spcPts val="1000"/>
              </a:spcAft>
            </a:pPr>
            <a:r>
              <a:rPr b="1" sz="1300">
                <a:solidFill>
                  <a:srgbClr val="0D9488"/>
                </a:solidFill>
                <a:latin typeface="Arial"/>
              </a:rPr>
              <a:t>[✓]  </a:t>
            </a:r>
            <a:r>
              <a:rPr b="0" sz="1300">
                <a:solidFill>
                  <a:srgbClr val="0F172A"/>
                </a:solidFill>
                <a:latin typeface="Arial"/>
              </a:rPr>
              <a:t>Entitas lemah terbukti memiliki ketergantungan eksistensi mutlak pada pemiliknya.</a:t>
            </a:r>
          </a:p>
        </p:txBody>
      </p:sp>
      <p:sp>
        <p:nvSpPr>
          <p:cNvPr id="7" name="Rounded Rectangle 6"/>
          <p:cNvSpPr/>
          <p:nvPr/>
        </p:nvSpPr>
        <p:spPr>
          <a:xfrm>
            <a:off x="6217920" y="146304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114800"/>
          </a:xfrm>
          <a:prstGeom prst="rect">
            <a:avLst/>
          </a:prstGeom>
          <a:noFill/>
        </p:spPr>
        <p:txBody>
          <a:bodyPr wrap="square">
            <a:spAutoFit/>
          </a:bodyPr>
          <a:lstStyle/>
          <a:p>
            <a:pPr>
              <a:spcAft>
                <a:spcPts val="1200"/>
              </a:spcAft>
              <a:defRPr b="1" sz="1400">
                <a:solidFill>
                  <a:srgbClr val="2563EB"/>
                </a:solidFill>
              </a:defRPr>
            </a:pPr>
            <a:r>
              <a:t>AUDIT RELASI &amp; KARDINALITAS</a:t>
            </a:r>
          </a:p>
          <a:p>
            <a:pPr>
              <a:lnSpc>
                <a:spcPct val="115000"/>
              </a:lnSpc>
              <a:spcAft>
                <a:spcPts val="1000"/>
              </a:spcAft>
            </a:pPr>
            <a:r>
              <a:rPr b="1" sz="1300">
                <a:solidFill>
                  <a:srgbClr val="2563EB"/>
                </a:solidFill>
                <a:latin typeface="Arial"/>
              </a:rPr>
              <a:t>[✓]  </a:t>
            </a:r>
            <a:r>
              <a:rPr b="0" sz="1300">
                <a:solidFill>
                  <a:srgbClr val="0F172A"/>
                </a:solidFill>
                <a:latin typeface="Arial"/>
              </a:rPr>
              <a:t>Semua relasi diberi nama kata kerja aktif yang mencerminkan proses bisnis.</a:t>
            </a:r>
          </a:p>
          <a:p>
            <a:pPr>
              <a:lnSpc>
                <a:spcPct val="115000"/>
              </a:lnSpc>
              <a:spcAft>
                <a:spcPts val="1000"/>
              </a:spcAft>
            </a:pPr>
            <a:r>
              <a:rPr b="1" sz="1300">
                <a:solidFill>
                  <a:srgbClr val="2563EB"/>
                </a:solidFill>
                <a:latin typeface="Arial"/>
              </a:rPr>
              <a:t>[✓]  </a:t>
            </a:r>
            <a:r>
              <a:rPr b="0" sz="1300">
                <a:solidFill>
                  <a:srgbClr val="0F172A"/>
                </a:solidFill>
                <a:latin typeface="Arial"/>
              </a:rPr>
              <a:t>Kardinalitas (1:1, 1:N, M:N) sudah divalidasi dengan cara pembacaan dua arah.</a:t>
            </a:r>
          </a:p>
          <a:p>
            <a:pPr>
              <a:lnSpc>
                <a:spcPct val="115000"/>
              </a:lnSpc>
              <a:spcAft>
                <a:spcPts val="1000"/>
              </a:spcAft>
            </a:pPr>
            <a:r>
              <a:rPr b="1" sz="1300">
                <a:solidFill>
                  <a:srgbClr val="2563EB"/>
                </a:solidFill>
                <a:latin typeface="Arial"/>
              </a:rPr>
              <a:t>[✓]  </a:t>
            </a:r>
            <a:r>
              <a:rPr b="0" sz="1300">
                <a:solidFill>
                  <a:srgbClr val="0F172A"/>
                </a:solidFill>
                <a:latin typeface="Arial"/>
              </a:rPr>
              <a:t>Relasi Many-to-Many (M:N) sudah dikenali sebelum transformasi ke skema fisik.</a:t>
            </a:r>
          </a:p>
          <a:p>
            <a:pPr>
              <a:lnSpc>
                <a:spcPct val="115000"/>
              </a:lnSpc>
              <a:spcAft>
                <a:spcPts val="1000"/>
              </a:spcAft>
            </a:pPr>
            <a:r>
              <a:rPr b="1" sz="1300">
                <a:solidFill>
                  <a:srgbClr val="2563EB"/>
                </a:solidFill>
                <a:latin typeface="Arial"/>
              </a:rPr>
              <a:t>[✓]  </a:t>
            </a:r>
            <a:r>
              <a:rPr b="0" sz="1300">
                <a:solidFill>
                  <a:srgbClr val="0F172A"/>
                </a:solidFill>
                <a:latin typeface="Arial"/>
              </a:rPr>
              <a:t>Tidak ada redundansi relasi melingkar (circular) yang membingungkan sistem.</a:t>
            </a:r>
          </a:p>
          <a:p>
            <a:pPr>
              <a:lnSpc>
                <a:spcPct val="115000"/>
              </a:lnSpc>
              <a:spcAft>
                <a:spcPts val="1000"/>
              </a:spcAft>
            </a:pPr>
            <a:r>
              <a:rPr b="1" sz="1300">
                <a:solidFill>
                  <a:srgbClr val="2563EB"/>
                </a:solidFill>
                <a:latin typeface="Arial"/>
              </a:rPr>
              <a:t>[✓]  </a:t>
            </a:r>
            <a:r>
              <a:rPr b="0" sz="1300">
                <a:solidFill>
                  <a:srgbClr val="0F172A"/>
                </a:solidFill>
                <a:latin typeface="Arial"/>
              </a:rPr>
              <a:t>ERD dapat diceritakan kembali dengan kalimat bahasa Indonesia sederhana.</a:t>
            </a:r>
          </a:p>
        </p:txBody>
      </p:sp>
      <p:sp>
        <p:nvSpPr>
          <p:cNvPr id="10" name="TextBox 9"/>
          <p:cNvSpPr txBox="1"/>
          <p:nvPr/>
        </p:nvSpPr>
        <p:spPr>
          <a:xfrm>
            <a:off x="731520" y="6309360"/>
            <a:ext cx="10728655" cy="274320"/>
          </a:xfrm>
          <a:prstGeom prst="rect">
            <a:avLst/>
          </a:prstGeom>
          <a:noFill/>
        </p:spPr>
        <p:txBody>
          <a:bodyPr wrap="square" lIns="0" rIns="0" tIns="0" bIns="0">
            <a:spAutoFit/>
          </a:bodyPr>
          <a:lstStyle/>
          <a:p>
            <a:pPr>
              <a:defRPr sz="950">
                <a:solidFill>
                  <a:srgbClr val="64748B"/>
                </a:solidFill>
                <a:latin typeface="Arial"/>
              </a:defRPr>
            </a:pPr>
            <a:r>
              <a:t>Basis Data · S1 Teknologi Informasi | Modul 02: Entity Relationship Diagram                         Slide 23 dari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ounded Rectangle 1"/>
          <p:cNvSpPr/>
          <p:nvPr/>
        </p:nvSpPr>
        <p:spPr>
          <a:xfrm>
            <a:off x="731520" y="384048"/>
            <a:ext cx="2926080" cy="292608"/>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93C5FD"/>
                </a:solidFill>
                <a:latin typeface="Arial"/>
              </a:defRPr>
            </a:pPr>
            <a:r>
              <a:t>BASIS DATA · S1 TEKNOLOGI INFORMASI</a:t>
            </a:r>
          </a:p>
        </p:txBody>
      </p:sp>
      <p:sp>
        <p:nvSpPr>
          <p:cNvPr id="3" name="TextBox 2"/>
          <p:cNvSpPr txBox="1"/>
          <p:nvPr/>
        </p:nvSpPr>
        <p:spPr>
          <a:xfrm>
            <a:off x="731520" y="731520"/>
            <a:ext cx="10698480" cy="685800"/>
          </a:xfrm>
          <a:prstGeom prst="rect">
            <a:avLst/>
          </a:prstGeom>
          <a:noFill/>
        </p:spPr>
        <p:txBody>
          <a:bodyPr wrap="square" lIns="0" rIns="0" tIns="0" bIns="0">
            <a:spAutoFit/>
          </a:bodyPr>
          <a:lstStyle/>
          <a:p>
            <a:pPr>
              <a:defRPr sz="2500" b="1">
                <a:solidFill>
                  <a:srgbClr val="F8FAFC"/>
                </a:solidFill>
                <a:latin typeface="Arial"/>
              </a:defRPr>
            </a:pPr>
            <a:r>
              <a:t>Rekapitulasi Modul &amp; Exit Ticket Evaluasi</a:t>
            </a:r>
          </a:p>
        </p:txBody>
      </p:sp>
      <p:sp>
        <p:nvSpPr>
          <p:cNvPr id="4" name="Rounded Rectangle 3"/>
          <p:cNvSpPr/>
          <p:nvPr/>
        </p:nvSpPr>
        <p:spPr>
          <a:xfrm>
            <a:off x="731520" y="1463040"/>
            <a:ext cx="5120640" cy="4572000"/>
          </a:xfrm>
          <a:prstGeom prst="roundRect">
            <a:avLst/>
          </a:prstGeom>
          <a:solidFill>
            <a:srgbClr val="1A26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7315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91640"/>
            <a:ext cx="4572000" cy="4114800"/>
          </a:xfrm>
          <a:prstGeom prst="rect">
            <a:avLst/>
          </a:prstGeom>
          <a:noFill/>
        </p:spPr>
        <p:txBody>
          <a:bodyPr wrap="square">
            <a:spAutoFit/>
          </a:bodyPr>
          <a:lstStyle/>
          <a:p>
            <a:pPr>
              <a:spcAft>
                <a:spcPts val="1200"/>
              </a:spcAft>
              <a:defRPr b="1" sz="1300">
                <a:solidFill>
                  <a:srgbClr val="93C5FD"/>
                </a:solidFill>
              </a:defRPr>
            </a:pPr>
            <a:r>
              <a:t>5 PERTANYAAN KUNCI REFLEKSI KELAS</a:t>
            </a:r>
          </a:p>
          <a:p>
            <a:pPr>
              <a:lnSpc>
                <a:spcPct val="115000"/>
              </a:lnSpc>
              <a:spcAft>
                <a:spcPts val="800"/>
              </a:spcAft>
            </a:pPr>
            <a:r>
              <a:rPr b="1" sz="1300">
                <a:solidFill>
                  <a:srgbClr val="93C5FD"/>
                </a:solidFill>
                <a:latin typeface="Arial"/>
              </a:rPr>
              <a:t>Q1:  </a:t>
            </a:r>
            <a:r>
              <a:rPr b="0" sz="1300">
                <a:solidFill>
                  <a:srgbClr val="F8FAFC"/>
                </a:solidFill>
                <a:latin typeface="Arial"/>
              </a:rPr>
              <a:t>Apa pembeda mendasar antara tipe entitas dengan instansi entitas?</a:t>
            </a:r>
          </a:p>
          <a:p>
            <a:pPr>
              <a:lnSpc>
                <a:spcPct val="115000"/>
              </a:lnSpc>
              <a:spcAft>
                <a:spcPts val="800"/>
              </a:spcAft>
            </a:pPr>
            <a:r>
              <a:rPr b="1" sz="1300">
                <a:solidFill>
                  <a:srgbClr val="93C5FD"/>
                </a:solidFill>
                <a:latin typeface="Arial"/>
              </a:rPr>
              <a:t>Q2:  </a:t>
            </a:r>
            <a:r>
              <a:rPr b="0" sz="1300">
                <a:solidFill>
                  <a:srgbClr val="F8FAFC"/>
                </a:solidFill>
                <a:latin typeface="Arial"/>
              </a:rPr>
              <a:t>Kapan sebuah entitas diklasifikasikan sebagai weak entity?</a:t>
            </a:r>
          </a:p>
          <a:p>
            <a:pPr>
              <a:lnSpc>
                <a:spcPct val="115000"/>
              </a:lnSpc>
              <a:spcAft>
                <a:spcPts val="800"/>
              </a:spcAft>
            </a:pPr>
            <a:r>
              <a:rPr b="1" sz="1300">
                <a:solidFill>
                  <a:srgbClr val="93C5FD"/>
                </a:solidFill>
                <a:latin typeface="Arial"/>
              </a:rPr>
              <a:t>Q3:  </a:t>
            </a:r>
            <a:r>
              <a:rPr b="0" sz="1300">
                <a:solidFill>
                  <a:srgbClr val="F8FAFC"/>
                </a:solidFill>
                <a:latin typeface="Arial"/>
              </a:rPr>
              <a:t>Mengapa atribut komposit berbeda secara prinsip dengan multivalued?</a:t>
            </a:r>
          </a:p>
          <a:p>
            <a:pPr>
              <a:lnSpc>
                <a:spcPct val="115000"/>
              </a:lnSpc>
              <a:spcAft>
                <a:spcPts val="800"/>
              </a:spcAft>
            </a:pPr>
            <a:r>
              <a:rPr b="1" sz="1300">
                <a:solidFill>
                  <a:srgbClr val="93C5FD"/>
                </a:solidFill>
                <a:latin typeface="Arial"/>
              </a:rPr>
              <a:t>Q4:  </a:t>
            </a:r>
            <a:r>
              <a:rPr b="0" sz="1300">
                <a:solidFill>
                  <a:srgbClr val="F8FAFC"/>
                </a:solidFill>
                <a:latin typeface="Arial"/>
              </a:rPr>
              <a:t>Bagaimana langkah praktis membedakan relasi 1:N dengan M:N?</a:t>
            </a:r>
          </a:p>
          <a:p>
            <a:pPr>
              <a:lnSpc>
                <a:spcPct val="115000"/>
              </a:lnSpc>
              <a:spcAft>
                <a:spcPts val="800"/>
              </a:spcAft>
            </a:pPr>
            <a:r>
              <a:rPr b="1" sz="1300">
                <a:solidFill>
                  <a:srgbClr val="93C5FD"/>
                </a:solidFill>
                <a:latin typeface="Arial"/>
              </a:rPr>
              <a:t>Q5:  </a:t>
            </a:r>
            <a:r>
              <a:rPr b="0" sz="1300">
                <a:solidFill>
                  <a:srgbClr val="F8FAFC"/>
                </a:solidFill>
                <a:latin typeface="Arial"/>
              </a:rPr>
              <a:t>Apa perbedaan filosofis mendasar antara notasi Chen dan Crow's Foot?</a:t>
            </a:r>
          </a:p>
        </p:txBody>
      </p:sp>
      <p:sp>
        <p:nvSpPr>
          <p:cNvPr id="7" name="Rounded Rectangle 6"/>
          <p:cNvSpPr/>
          <p:nvPr/>
        </p:nvSpPr>
        <p:spPr>
          <a:xfrm>
            <a:off x="6217920" y="1463040"/>
            <a:ext cx="5212080" cy="4572000"/>
          </a:xfrm>
          <a:prstGeom prst="roundRect">
            <a:avLst/>
          </a:prstGeom>
          <a:solidFill>
            <a:srgbClr val="1A2640"/>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463040"/>
            <a:ext cx="5212080" cy="7315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91640"/>
            <a:ext cx="4663440" cy="4114800"/>
          </a:xfrm>
          <a:prstGeom prst="rect">
            <a:avLst/>
          </a:prstGeom>
          <a:noFill/>
        </p:spPr>
        <p:txBody>
          <a:bodyPr wrap="square">
            <a:spAutoFit/>
          </a:bodyPr>
          <a:lstStyle/>
          <a:p>
            <a:pPr>
              <a:spcAft>
                <a:spcPts val="1200"/>
              </a:spcAft>
              <a:defRPr b="1" sz="1300">
                <a:solidFill>
                  <a:srgbClr val="D97706"/>
                </a:solidFill>
              </a:defRPr>
            </a:pPr>
            <a:r>
              <a:t>EXIT TICKET HARI INI (BOARDING PASS)</a:t>
            </a:r>
          </a:p>
          <a:p>
            <a:pPr>
              <a:lnSpc>
                <a:spcPct val="125000"/>
              </a:lnSpc>
              <a:defRPr sz="1250">
                <a:solidFill>
                  <a:srgbClr val="F8FAFC"/>
                </a:solidFill>
              </a:defRPr>
            </a:pPr>
            <a:r>
              <a:t>"Ambil SATU aplikasi mobile yang Anda buka setiap hari (Spotify, Gojek, Tokopedia, Instagram).</a:t>
            </a:r>
            <a:br/>
            <a:br/>
            <a:r>
              <a:t>Tuliskan pada selembar kertas / formulir LMS:</a:t>
            </a:r>
            <a:br/>
            <a:r>
              <a:t>• 3 Entitas utama sistem</a:t>
            </a:r>
            <a:br/>
            <a:r>
              <a:t>• 3 Atribut per entitas (tandai mana Primary Key)</a:t>
            </a:r>
            <a:br/>
            <a:r>
              <a:t>• 2 Hubungan relasi bermakna</a:t>
            </a:r>
            <a:br/>
            <a:r>
              <a:t>• Tentukan kardinalitas masing-masing relasi!"</a:t>
            </a:r>
            <a:br/>
            <a:br/>
            <a:r>
              <a:t>Agenda Pertemuan Berikutnya:</a:t>
            </a:r>
            <a:br/>
            <a:r>
              <a:t>Transformasi ERD Konseptual ke Skema Relasional Fisik &amp; Normalisasi (1NF, 2NF, 3NF).</a:t>
            </a:r>
          </a:p>
        </p:txBody>
      </p:sp>
      <p:sp>
        <p:nvSpPr>
          <p:cNvPr id="10" name="TextBox 9"/>
          <p:cNvSpPr txBox="1"/>
          <p:nvPr/>
        </p:nvSpPr>
        <p:spPr>
          <a:xfrm>
            <a:off x="731520" y="6309360"/>
            <a:ext cx="10728655" cy="274320"/>
          </a:xfrm>
          <a:prstGeom prst="rect">
            <a:avLst/>
          </a:prstGeom>
          <a:noFill/>
        </p:spPr>
        <p:txBody>
          <a:bodyPr wrap="square" lIns="0" rIns="0" tIns="0" bIns="0">
            <a:spAutoFit/>
          </a:bodyPr>
          <a:lstStyle/>
          <a:p>
            <a:pPr>
              <a:defRPr sz="950">
                <a:solidFill>
                  <a:srgbClr val="94A3B8"/>
                </a:solidFill>
                <a:latin typeface="Arial"/>
              </a:defRPr>
            </a:pPr>
            <a:r>
              <a:t>Basis Data · S1 Teknologi Informasi | Modul 02: Entity Relationship Diagram                         Slide 24 dari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