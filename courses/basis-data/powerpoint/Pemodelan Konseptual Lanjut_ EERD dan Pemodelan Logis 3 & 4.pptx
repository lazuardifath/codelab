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embeddedFontLst>
    <p:embeddedFont>
      <p:font typeface="JetBrains Mono" panose="02000009000000000000" pitchFamily="49" charset="0"/>
      <p:regular r:id="rId43"/>
      <p:bold r:id="rId44"/>
      <p:italic r:id="rId45"/>
      <p:boldItalic r:id="rId46"/>
    </p:embeddedFont>
    <p:embeddedFont>
      <p:font typeface="Plus Jakarta Sans" pitchFamily="2" charset="0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8B93B-5E59-457E-9E6C-73F1BFE9CDA3}" type="datetimeFigureOut">
              <a:rPr lang="en-ID" smtClean="0"/>
              <a:t>22/09/2026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81270-38CD-4C40-ADEA-1A79A3BFEA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470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81270-38CD-4C40-ADEA-1A79A3BFEA2C}" type="slidenum">
              <a:rPr lang="en-ID" smtClean="0"/>
              <a:t>40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32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365128"/>
            <a:ext cx="9334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054572"/>
            <a:ext cx="2905125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365128"/>
            <a:ext cx="9334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617541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617541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4617541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530822"/>
            <a:ext cx="9901237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F8FAFC"/>
                </a:solidFill>
                <a:latin typeface="Plus Jakarta Sans"/>
              </a:rPr>
              <a:t>Pemodelan Konseptual Lanjut &amp; Pemodelan Logis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728888"/>
            <a:ext cx="11430000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Plus Jakarta Sans"/>
              </a:rPr>
              <a:t>Enhanced ERD (EERD) </a:t>
            </a:r>
            <a:r>
              <a:rPr sz="1650" b="0" i="0" u="none">
                <a:solidFill>
                  <a:srgbClr val="38BDF8"/>
                </a:solidFill>
                <a:latin typeface="Plus Jakarta Sans"/>
              </a:rPr>
              <a:t>→</a:t>
            </a:r>
            <a:r>
              <a:rPr sz="1650" b="0" i="0" u="none">
                <a:solidFill>
                  <a:srgbClr val="CBD5E1"/>
                </a:solidFill>
                <a:latin typeface="Plus Jakarta Sans"/>
              </a:rPr>
              <a:t> Skema Relasional </a:t>
            </a:r>
            <a:r>
              <a:rPr sz="1650" b="0" i="0" u="none">
                <a:solidFill>
                  <a:srgbClr val="38BDF8"/>
                </a:solidFill>
                <a:latin typeface="Plus Jakarta Sans"/>
              </a:rPr>
              <a:t>→</a:t>
            </a:r>
            <a:r>
              <a:rPr sz="1650" b="0" i="0" u="none">
                <a:solidFill>
                  <a:srgbClr val="CBD5E1"/>
                </a:solidFill>
                <a:latin typeface="Plus Jakarta Sans"/>
              </a:rPr>
              <a:t> Database Diagram (DBD)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2111722"/>
            <a:ext cx="2733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BASIS DATA • PERTEMUAN 07 &amp;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1425" y="2106959"/>
            <a:ext cx="3226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4A3B8"/>
                </a:solidFill>
                <a:latin typeface="Plus Jakarta Sans"/>
              </a:rPr>
              <a:t>Program Studi S1 Teknologi Informasi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4603253"/>
            <a:ext cx="2452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Hierarki &amp; Batasan Subtype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4603253"/>
            <a:ext cx="1488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Relasi Kompleks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325" y="4603253"/>
            <a:ext cx="2869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Transformasi Skema &amp; Integritas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43114"/>
            <a:ext cx="10972800" cy="600075"/>
          </a:xfrm>
          <a:prstGeom prst="roundRect">
            <a:avLst>
              <a:gd name="adj" fmla="val 1269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37532"/>
            <a:ext cx="2628900" cy="1576982"/>
          </a:xfrm>
          <a:prstGeom prst="roundRect">
            <a:avLst>
              <a:gd name="adj" fmla="val 72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2637532"/>
            <a:ext cx="2628900" cy="1576982"/>
          </a:xfrm>
          <a:prstGeom prst="roundRect">
            <a:avLst>
              <a:gd name="adj" fmla="val 72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2637532"/>
            <a:ext cx="2628900" cy="1576982"/>
          </a:xfrm>
          <a:prstGeom prst="roundRect">
            <a:avLst>
              <a:gd name="adj" fmla="val 72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500" y="2637532"/>
            <a:ext cx="2628900" cy="1576982"/>
          </a:xfrm>
          <a:prstGeom prst="roundRect">
            <a:avLst>
              <a:gd name="adj" fmla="val 72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443114"/>
            <a:ext cx="38100" cy="6000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287565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29025" y="287565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10325" y="287565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91625" y="287565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KOMPETENSI PERKULIAHAN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Apa yang Harus Dikuasai?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633614"/>
            <a:ext cx="87860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"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Bagaimana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memodelkan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struktur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data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kompleks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tanpa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membuat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kolom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bernilai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kosong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secara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1E40AF"/>
                </a:solidFill>
                <a:latin typeface="Plus Jakarta Sans"/>
              </a:rPr>
              <a:t>massal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256657"/>
            <a:ext cx="2247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Konsep dasar EERD dan batasan pewarisan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3256657"/>
            <a:ext cx="2247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Subtype, relasi rekursif, dan relasi ternary.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256657"/>
            <a:ext cx="2247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Konversi EERD ke tabel, PK, FK, dan junction M:N.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1625" y="3256657"/>
            <a:ext cx="22479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Integritas entitas, referensial, dan Database Diagram.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287565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9675" y="2899469"/>
            <a:ext cx="127015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Memahami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6150" y="287565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0975" y="2899469"/>
            <a:ext cx="14501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Memodelkan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7450" y="287565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2899469"/>
            <a:ext cx="18627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Mentransformasi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0" y="287565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3575" y="2899469"/>
            <a:ext cx="1400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Memvalidasi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16385"/>
            <a:ext cx="5324475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38875" y="2516385"/>
            <a:ext cx="5343525" cy="2647950"/>
          </a:xfrm>
          <a:prstGeom prst="roundRect">
            <a:avLst>
              <a:gd name="adj" fmla="val 4316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59285"/>
            <a:ext cx="180975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868810"/>
            <a:ext cx="180975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EVOLUSI MODEL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Dari ERD Konvensional ke Enhanced ERD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2830710"/>
            <a:ext cx="30753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Plus Jakarta Sans"/>
              </a:rPr>
              <a:t>ERD Dasar (Peter Chen)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249810"/>
            <a:ext cx="47910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Entitas Mandiri: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Tidak mendukung pengelompokan hierarkis bertingkat.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821310"/>
            <a:ext cx="47910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Redudansi Atribut: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Atribut duplikat pada kelompok entitas sejenis.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92810"/>
            <a:ext cx="47910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Relasi Terbatas: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Berfokus utama pada relasi biner sederhana.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8950" y="2840235"/>
            <a:ext cx="288786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Plus Jakarta Sans"/>
              </a:rPr>
              <a:t>Enhanced ERD (EERD)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259335"/>
            <a:ext cx="47910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Supertype &amp; Subtype:</a:t>
            </a:r>
            <a:r>
              <a:rPr sz="1350" b="0" i="0" u="none">
                <a:solidFill>
                  <a:srgbClr val="1E3A8A"/>
                </a:solidFill>
                <a:latin typeface="Plus Jakarta Sans"/>
              </a:rPr>
              <a:t> Struktur umum dan turunan terisolasi rapi.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830835"/>
            <a:ext cx="47910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Atribut Inheritance:</a:t>
            </a:r>
            <a:r>
              <a:rPr sz="1350" b="0" i="0" u="none">
                <a:solidFill>
                  <a:srgbClr val="1E3A8A"/>
                </a:solidFill>
                <a:latin typeface="Plus Jakarta Sans"/>
              </a:rPr>
              <a:t> Subtype mewarisi seluruh atribut supertype.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402335"/>
            <a:ext cx="47910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Batasan Ketat:</a:t>
            </a:r>
            <a:r>
              <a:rPr sz="1350" b="0" i="0" u="none">
                <a:solidFill>
                  <a:srgbClr val="1E3A8A"/>
                </a:solidFill>
                <a:latin typeface="Plus Jakarta Sans"/>
              </a:rPr>
              <a:t> Mengatur keanggotaan disjointness dan completeness.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5372100" cy="2603896"/>
          </a:xfrm>
          <a:prstGeom prst="roundRect">
            <a:avLst>
              <a:gd name="adj" fmla="val 4389"/>
            </a:avLst>
          </a:prstGeom>
          <a:solidFill>
            <a:srgbClr val="FEE2E2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538412"/>
            <a:ext cx="5372100" cy="2603896"/>
          </a:xfrm>
          <a:prstGeom prst="roundRect">
            <a:avLst>
              <a:gd name="adj" fmla="val 4389"/>
            </a:avLst>
          </a:prstGeom>
          <a:solidFill>
            <a:srgbClr val="DCFCE7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742134"/>
            <a:ext cx="489585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48425" y="3742134"/>
            <a:ext cx="489585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1463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814637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STUDI MOTIVASI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Masalah Entitas Tunggal yang Gemuk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776537"/>
            <a:ext cx="6425803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Pendekatan Salah: Satu Entitas Raksasa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09912"/>
            <a:ext cx="49911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Semua peran (Mahasiswa, Dosen, Admin) digabung ke satu entitas </a:t>
            </a:r>
            <a:r>
              <a:rPr sz="1350" b="1" i="0" u="none">
                <a:solidFill>
                  <a:srgbClr val="7F1D1D"/>
                </a:solidFill>
                <a:latin typeface="Plus Jakarta Sans"/>
              </a:rPr>
              <a:t>USER</a:t>
            </a:r>
            <a:r>
              <a:rPr sz="1350" b="0" i="0" u="none">
                <a:solidFill>
                  <a:srgbClr val="7F1D1D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504134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Plus Jakarta Sans"/>
              </a:rPr>
              <a:t>Dampak: Terjadi pemborosan ruang dan inkonsistensi nilai NULL massal.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2776537"/>
            <a:ext cx="5743575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Solusi EERD: Supertype &amp; Subtype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109912"/>
            <a:ext cx="49911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4532D"/>
                </a:solidFill>
                <a:latin typeface="Plus Jakarta Sans"/>
              </a:rPr>
              <a:t>Pisahkan atribut bersama ke </a:t>
            </a:r>
            <a:r>
              <a:rPr sz="1350" b="1" i="0" u="none">
                <a:solidFill>
                  <a:srgbClr val="14532D"/>
                </a:solidFill>
                <a:latin typeface="Plus Jakarta Sans"/>
              </a:rPr>
              <a:t>Supertype</a:t>
            </a:r>
            <a:r>
              <a:rPr sz="1350" b="0" i="0" u="none">
                <a:solidFill>
                  <a:srgbClr val="14532D"/>
                </a:solidFill>
                <a:latin typeface="Plus Jakarta Sans"/>
              </a:rPr>
              <a:t> dan atribut spesifik ke </a:t>
            </a:r>
            <a:r>
              <a:rPr sz="1350" b="1" i="0" u="none">
                <a:solidFill>
                  <a:srgbClr val="14532D"/>
                </a:solidFill>
                <a:latin typeface="Plus Jakarta Sans"/>
              </a:rPr>
              <a:t>Subtype</a:t>
            </a:r>
            <a:r>
              <a:rPr sz="1350" b="0" i="0" u="none">
                <a:solidFill>
                  <a:srgbClr val="14532D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504134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Plus Jakarta Sans"/>
              </a:rPr>
              <a:t>Dampak: Data bersih, terstruktur, bebas anomali kolom tak terpakai.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865959"/>
            <a:ext cx="4743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JetBrains Mono"/>
              </a:rPr>
              <a:t>USER: id, nama, email, nim (NULL?), nidn (NULL?), level (NULL?)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3865959"/>
            <a:ext cx="4743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66534"/>
                </a:solidFill>
                <a:latin typeface="JetBrains Mono"/>
              </a:rPr>
              <a:t>USER (id, nama, email) → MAHASISWA(nim), DOSEN(nidn), ADMIN(level)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05250" y="2411610"/>
            <a:ext cx="4381500" cy="1162050"/>
          </a:xfrm>
          <a:prstGeom prst="roundRect">
            <a:avLst>
              <a:gd name="adj" fmla="val 819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154685"/>
            <a:ext cx="3530649" cy="1114425"/>
          </a:xfrm>
          <a:prstGeom prst="roundRect">
            <a:avLst>
              <a:gd name="adj" fmla="val 85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4154685"/>
            <a:ext cx="3530649" cy="1114425"/>
          </a:xfrm>
          <a:prstGeom prst="roundRect">
            <a:avLst>
              <a:gd name="adj" fmla="val 85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4154685"/>
            <a:ext cx="3530649" cy="1114425"/>
          </a:xfrm>
          <a:prstGeom prst="roundRect">
            <a:avLst>
              <a:gd name="adj" fmla="val 85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5" y="3787973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5" y="3787973"/>
            <a:ext cx="1143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STRUKTUR KONSEPTUAL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Supertype, Subtype, dan Pewarisan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2362" y="2602110"/>
            <a:ext cx="4867275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SUPERTYPE (ENTITAS INDUK)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0690" y="2840235"/>
            <a:ext cx="49506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8562" y="3183135"/>
            <a:ext cx="4714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JetBrains Mono"/>
              </a:rPr>
              <a:t>id_user [PK], nama, email, no_hp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0075" y="3764160"/>
            <a:ext cx="4214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Mewarisi (Inheritance) Seluruh Atribut &amp; Relasi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768" y="4345185"/>
            <a:ext cx="4032312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SUBTYPE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9918" y="4345185"/>
            <a:ext cx="4032312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SUBTYPE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1068" y="4345185"/>
            <a:ext cx="4032312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SUBTYPE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468" y="4592835"/>
            <a:ext cx="410891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MAHASISWA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300" y="4869060"/>
            <a:ext cx="39132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JetBrains Mono"/>
              </a:rPr>
              <a:t>nim, program_studi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18" y="4592835"/>
            <a:ext cx="410891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DOSEN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9449" y="4869060"/>
            <a:ext cx="39132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JetBrains Mono"/>
              </a:rPr>
              <a:t>nidn, bidang_keahlian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2768" y="4592835"/>
            <a:ext cx="410891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0599" y="4869060"/>
            <a:ext cx="39132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JetBrains Mono"/>
              </a:rPr>
              <a:t>level_admin, hak_akses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87835"/>
            <a:ext cx="5334000" cy="2305050"/>
          </a:xfrm>
          <a:prstGeom prst="roundRect">
            <a:avLst>
              <a:gd name="adj" fmla="val 49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87835"/>
            <a:ext cx="5334000" cy="2305050"/>
          </a:xfrm>
          <a:prstGeom prst="roundRect">
            <a:avLst>
              <a:gd name="adj" fmla="val 49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4126110"/>
            <a:ext cx="47053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62725" y="4126110"/>
            <a:ext cx="47053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2975" y="3011685"/>
            <a:ext cx="876300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15575" y="3011685"/>
            <a:ext cx="952500" cy="247650"/>
          </a:xfrm>
          <a:prstGeom prst="roundRect">
            <a:avLst>
              <a:gd name="adj" fmla="val 23076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PENDEKATAN PEMODELAN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Spesialisasi vs Generalisasi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421260"/>
            <a:ext cx="4800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Proses mendefinisikan satu atau lebih subtype dari entitas supertype berdasarkan karakteristik pembeda yang unik.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421260"/>
            <a:ext cx="4800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Proses menyatukan entitas-entitas dengan atribut serupa menjadi satu entitas supertype yang lebih generik.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002160"/>
            <a:ext cx="371296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Spesialisasi (Specialization)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8225" y="3049785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Plus Jakarta Sans"/>
              </a:rPr>
              <a:t>Top-Down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162" y="4288035"/>
            <a:ext cx="547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lus Jakarta Sans"/>
              </a:rPr>
              <a:t>USER → Dipecah → { Mahasiswa, Dosen, Tendik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002160"/>
            <a:ext cx="383797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Generalisasi (Generalization)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0825" y="3049785"/>
            <a:ext cx="857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338CA"/>
                </a:solidFill>
                <a:latin typeface="Plus Jakarta Sans"/>
              </a:rPr>
              <a:t>Bottom-Up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962" y="4288035"/>
            <a:ext cx="547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338CA"/>
                </a:solidFill>
                <a:latin typeface="Plus Jakarta Sans"/>
              </a:rPr>
              <a:t>{ Mobil, Motor, Truk } → Digabung → KENDARAAN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8298"/>
            <a:ext cx="5334000" cy="2524125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78298"/>
            <a:ext cx="5334000" cy="2524125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997523"/>
            <a:ext cx="478155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3997523"/>
            <a:ext cx="478155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285452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24625" y="285452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BATASAN SUBTYPE (BAGIAN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Batasan Disjointness: Disjoint vs Overlapping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330773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Instans supertype hanya boleh menjadi anggota dari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paling banyak satu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subtype. Tidak boleh ganda.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330773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Instans supertype boleh menjadi anggota dari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lebih dari satu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subtype secara bersamaan.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854523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3025" y="2892623"/>
            <a:ext cx="24753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Disjoint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4159448"/>
            <a:ext cx="5572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Contoh Nyata: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4435673"/>
            <a:ext cx="5572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PEGAWAI → Hanya Dosen ATAU Tendik.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2854523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1825" y="2892623"/>
            <a:ext cx="313789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Overlapping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4159448"/>
            <a:ext cx="5505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Contoh Nyata: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6550" y="4435673"/>
            <a:ext cx="55054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USER → Mahasiswa SEKALIGUS Asisten Lab.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21160"/>
            <a:ext cx="5334000" cy="2438400"/>
          </a:xfrm>
          <a:prstGeom prst="roundRect">
            <a:avLst>
              <a:gd name="adj" fmla="val 468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21160"/>
            <a:ext cx="5334000" cy="2438400"/>
          </a:xfrm>
          <a:prstGeom prst="roundRect">
            <a:avLst>
              <a:gd name="adj" fmla="val 468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964185"/>
            <a:ext cx="4781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3964185"/>
            <a:ext cx="4781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05325" y="2906910"/>
            <a:ext cx="1162050" cy="247650"/>
          </a:xfrm>
          <a:prstGeom prst="roundRect">
            <a:avLst>
              <a:gd name="adj" fmla="val 2307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67925" y="2906910"/>
            <a:ext cx="1238250" cy="247650"/>
          </a:xfrm>
          <a:prstGeom prst="roundRect">
            <a:avLst>
              <a:gd name="adj" fmla="val 23076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BATASAN SUBTYPE (BAGIAN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Batasan Kelengkapan: Total vs Parsial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297435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Wajib: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Setiap instans supertype </a:t>
            </a:r>
            <a:r>
              <a:rPr sz="1350" b="0" i="1" u="none">
                <a:solidFill>
                  <a:srgbClr val="475569"/>
                </a:solidFill>
                <a:latin typeface="Plus Jakarta Sans"/>
              </a:rPr>
              <a:t>harus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terdaftar sebagai anggota minimal salah satu subtype.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297435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Opsional: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Instans supertype </a:t>
            </a:r>
            <a:r>
              <a:rPr sz="1350" b="0" i="1" u="none">
                <a:solidFill>
                  <a:srgbClr val="475569"/>
                </a:solidFill>
                <a:latin typeface="Plus Jakarta Sans"/>
              </a:rPr>
              <a:t>boleh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tidak terdaftar pada satupun subtype yang tersedia.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897385"/>
            <a:ext cx="26003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Total Specialization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575" y="2945010"/>
            <a:ext cx="1066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Garis Ganda (=)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4402335"/>
            <a:ext cx="5572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Setiap PASIEN wajib Rawat Inap atau Rawat Jalan.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897385"/>
            <a:ext cx="28003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Partial Specialization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3175" y="294501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Garis Tunggal (-)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6550" y="4402335"/>
            <a:ext cx="5505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KENDARAAN bisa saja bukan Mobil maupun Motor.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06860"/>
            <a:ext cx="10972800" cy="2667000"/>
          </a:xfrm>
          <a:prstGeom prst="roundRect">
            <a:avLst>
              <a:gd name="adj" fmla="val 4285"/>
            </a:avLst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2516385"/>
          <a:ext cx="10953750" cy="2647950"/>
        </p:xfrm>
        <a:graphic>
          <a:graphicData uri="http://schemas.openxmlformats.org/drawingml/2006/table">
            <a:tbl>
              <a:tblPr/>
              <a:tblGrid>
                <a:gridCol w="240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Kombinasi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Makna Logis Aturan Bisnis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Contoh Nyata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Total + Disjoint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Wajib masuk ke tepat satu subtype.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Akun bank: Harus Giro ATAU Tabungan.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Total + Overlapping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Wajib minimal satu subtype, boleh multi.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Produk: Dijual online, offline, atau keduanya.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Partial + Disjoint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Boleh tidak ada; jika ada, maksimal satu.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Pegawai: Bukan Dosen/Tendik (staf umum).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Partial + Overlapping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Fleksibel penuh: boleh kosong atau banyak.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Peminjam: Mahasiswa, Dosen, atau Umum.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MATRIKS KEPUTUSAN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Matriks 4 Kombinasi Batasan Subtype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0" y="2721173"/>
            <a:ext cx="5638800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11798"/>
            <a:ext cx="4991100" cy="1000125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67450" y="3045023"/>
            <a:ext cx="4991100" cy="781050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11798"/>
            <a:ext cx="38100" cy="10001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275" y="4016573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RELASI KOMPLEKS (BAGIAN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Relasi Rekursif (Self-Referencing)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768798"/>
            <a:ext cx="655081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Entitas Berelasi dengan Dirinya Sendiri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06948"/>
            <a:ext cx="5086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Relasi unary yang menghubungkan baris data dalam tabel yang sama untuk membentuk hierarki atau dependensi.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3562" y="4435673"/>
            <a:ext cx="6238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Satu manajer memimpin banyak pegawai bawahan.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64198"/>
            <a:ext cx="571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Aturan Implementasi: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321373"/>
            <a:ext cx="4667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40AF"/>
                </a:solidFill>
                <a:latin typeface="Plus Jakarta Sans"/>
              </a:rPr>
              <a:t>Foreign Key (FK) merujuk langsung ke Primary Key (PK) pada tabel yang sama.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4062" y="3197423"/>
            <a:ext cx="5857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EMPLOYEE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4062" y="3473648"/>
            <a:ext cx="5857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JetBrains Mono"/>
              </a:rPr>
              <a:t>emp_id [PK], nama, manager_id [FK]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1968" y="4040385"/>
            <a:ext cx="1643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lus Jakarta Sans"/>
              </a:rPr>
              <a:t>supervises (1:N)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30635"/>
            <a:ext cx="10972800" cy="2828925"/>
          </a:xfrm>
          <a:prstGeom prst="roundRect">
            <a:avLst>
              <a:gd name="adj" fmla="val 40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91650" y="2430660"/>
            <a:ext cx="1990725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9625" y="2830710"/>
          <a:ext cx="10572748" cy="2028825"/>
        </p:xfrm>
        <a:graphic>
          <a:graphicData uri="http://schemas.openxmlformats.org/drawingml/2006/table">
            <a:tbl>
              <a:tblPr/>
              <a:tblGrid>
                <a:gridCol w="2518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1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emp_id [PK]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jabatan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manager_id [FK]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Prof. Rektor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Rektor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NULL (Puncak)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102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Dr. Dekan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Dekan FT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2563EB"/>
                          </a:solidFill>
                          <a:latin typeface="JetBrains Mono"/>
                        </a:rPr>
                        <a:t>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103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Dr. Kaprodi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Kaprodi TI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2563EB"/>
                          </a:solidFill>
                          <a:latin typeface="JetBrains Mono"/>
                        </a:rPr>
                        <a:t>102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104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Dosen TI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Dosen Tetap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2563EB"/>
                          </a:solidFill>
                          <a:latin typeface="JetBrains Mono"/>
                        </a:rPr>
                        <a:t>103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CONTOH PENERAPAN REKURSIF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Struktur Hierarki Organisasi Kampus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250060"/>
            <a:ext cx="750526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Relasi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rekursif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menyederhanakan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skema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tanpa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perlu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membuat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tabel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baru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untuk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setiap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tingkatan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jabatan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430660"/>
            <a:ext cx="625078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Hierarki Nyata: Rektor → Dekan → Kaprodi → Dosen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6900" y="2468760"/>
            <a:ext cx="1895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Hanya Membutuhkan 1 Tabel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91225" y="2921198"/>
            <a:ext cx="5591175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40385"/>
            <a:ext cx="5038725" cy="74295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040385"/>
            <a:ext cx="38100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01025" y="3197423"/>
            <a:ext cx="1171575" cy="390525"/>
          </a:xfrm>
          <a:prstGeom prst="roundRect">
            <a:avLst>
              <a:gd name="adj" fmla="val 14634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96087" y="3740348"/>
            <a:ext cx="1133475" cy="390525"/>
          </a:xfrm>
          <a:prstGeom prst="roundRect">
            <a:avLst>
              <a:gd name="adj" fmla="val 146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0062" y="3702248"/>
            <a:ext cx="1095375" cy="466725"/>
          </a:xfrm>
          <a:prstGeom prst="roundRect">
            <a:avLst>
              <a:gd name="adj" fmla="val 16326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05937" y="3740348"/>
            <a:ext cx="1371600" cy="390525"/>
          </a:xfrm>
          <a:prstGeom prst="roundRect">
            <a:avLst>
              <a:gd name="adj" fmla="val 146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RELASI KOMPLEKS (BAGIAN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Apa Itu Ternary Relationship?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897385"/>
            <a:ext cx="661332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Relasi Antara Tiga Entitas Simultan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35535"/>
            <a:ext cx="51339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Relasi berderajat tiga di mana satu kejadian transaksi hanya memiliki arti utuh jika mengikat tiga entitas sekaligus.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92785"/>
            <a:ext cx="471487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1E40AF"/>
                </a:solidFill>
                <a:latin typeface="Plus Jakarta Sans"/>
              </a:rPr>
              <a:t>Artinya 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Supplier 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A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1E40AF"/>
                </a:solidFill>
                <a:latin typeface="Plus Jakarta Sans"/>
              </a:rPr>
              <a:t>memasok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1E40AF"/>
                </a:solidFill>
                <a:latin typeface="Plus Jakarta Sans"/>
              </a:rPr>
              <a:t>Produk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X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1E40AF"/>
                </a:solidFill>
                <a:latin typeface="Plus Jakarta Sans"/>
              </a:rPr>
              <a:t>ke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 Gudang </a:t>
            </a:r>
            <a:r>
              <a:rPr sz="1350" b="1" i="0" u="none" dirty="0">
                <a:solidFill>
                  <a:srgbClr val="1E40AF"/>
                </a:solidFill>
                <a:latin typeface="Plus Jakarta Sans"/>
              </a:rPr>
              <a:t>Y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1E40AF"/>
                </a:solidFill>
                <a:latin typeface="Plus Jakarta Sans"/>
              </a:rPr>
              <a:t>dengan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1E40AF"/>
                </a:solidFill>
                <a:latin typeface="Plus Jakarta Sans"/>
              </a:rPr>
              <a:t>kuantitas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1E40AF"/>
                </a:solidFill>
                <a:latin typeface="Plus Jakarta Sans"/>
              </a:rPr>
              <a:t>tertentu</a:t>
            </a:r>
            <a:r>
              <a:rPr sz="1350" b="0" i="0" u="none" dirty="0">
                <a:solidFill>
                  <a:srgbClr val="1E40AF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9625" y="3292673"/>
            <a:ext cx="809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SUPPLIER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700" y="4283273"/>
            <a:ext cx="3202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1" u="none">
                <a:solidFill>
                  <a:srgbClr val="64748B"/>
                </a:solidFill>
                <a:latin typeface="Plus Jakarta Sans"/>
              </a:rPr>
              <a:t>Atribut relasi: quantity, supply_date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587" y="3835598"/>
            <a:ext cx="847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1512" y="3816548"/>
            <a:ext cx="8477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Plus Jakarta Sans"/>
              </a:rPr>
              <a:t>SUPPLIES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6437" y="3835598"/>
            <a:ext cx="108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WAREHOUSE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33637"/>
            <a:ext cx="5334000" cy="2813446"/>
          </a:xfrm>
          <a:prstGeom prst="roundRect">
            <a:avLst>
              <a:gd name="adj" fmla="val 4062"/>
            </a:avLst>
          </a:prstGeom>
          <a:solidFill>
            <a:srgbClr val="FEE2E2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433637"/>
            <a:ext cx="5334000" cy="2813446"/>
          </a:xfrm>
          <a:prstGeom prst="roundRect">
            <a:avLst>
              <a:gd name="adj" fmla="val 4062"/>
            </a:avLst>
          </a:prstGeom>
          <a:solidFill>
            <a:srgbClr val="DBEAFE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24625" y="3694509"/>
            <a:ext cx="4781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47962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747962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SEMANTIK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Mengapa Tidak Boleh Dipecah Biner Sembarangan?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709862"/>
            <a:ext cx="6275784" cy="2381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Plus Jakarta Sans"/>
              </a:rPr>
              <a:t>Dekomposisi Biner Palsu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062287"/>
            <a:ext cx="597693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Jika dipecah menjadi relasi biner terpisah: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426148"/>
            <a:ext cx="487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991B1B"/>
                </a:solidFill>
                <a:latin typeface="Plus Jakarta Sans"/>
              </a:rPr>
              <a:t>Tidak </a:t>
            </a:r>
            <a:r>
              <a:rPr sz="1200" b="1" i="0" u="none" dirty="0" err="1">
                <a:solidFill>
                  <a:srgbClr val="991B1B"/>
                </a:solidFill>
                <a:latin typeface="Plus Jakarta Sans"/>
              </a:rPr>
              <a:t>diketahui</a:t>
            </a:r>
            <a:r>
              <a:rPr sz="1200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991B1B"/>
                </a:solidFill>
                <a:latin typeface="Plus Jakarta Sans"/>
              </a:rPr>
              <a:t>apakah</a:t>
            </a:r>
            <a:r>
              <a:rPr sz="1200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991B1B"/>
                </a:solidFill>
                <a:latin typeface="Plus Jakarta Sans"/>
              </a:rPr>
              <a:t>pasokan</a:t>
            </a:r>
            <a:r>
              <a:rPr sz="1200" b="1" i="0" u="none" dirty="0">
                <a:solidFill>
                  <a:srgbClr val="991B1B"/>
                </a:solidFill>
                <a:latin typeface="Plus Jakarta Sans"/>
              </a:rPr>
              <a:t> Product X di Gudang Y </a:t>
            </a:r>
            <a:r>
              <a:rPr sz="1200" b="1" i="0" u="none" dirty="0" err="1">
                <a:solidFill>
                  <a:srgbClr val="991B1B"/>
                </a:solidFill>
                <a:latin typeface="Plus Jakarta Sans"/>
              </a:rPr>
              <a:t>berasal</a:t>
            </a:r>
            <a:r>
              <a:rPr sz="1200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991B1B"/>
                </a:solidFill>
                <a:latin typeface="Plus Jakarta Sans"/>
              </a:rPr>
              <a:t>dari</a:t>
            </a:r>
            <a:r>
              <a:rPr sz="1200" b="1" i="0" u="none" dirty="0">
                <a:solidFill>
                  <a:srgbClr val="991B1B"/>
                </a:solidFill>
                <a:latin typeface="Plus Jakarta Sans"/>
              </a:rPr>
              <a:t> Supplier A </a:t>
            </a:r>
            <a:r>
              <a:rPr sz="1200" b="1" i="0" u="none" dirty="0" err="1">
                <a:solidFill>
                  <a:srgbClr val="991B1B"/>
                </a:solidFill>
                <a:latin typeface="Plus Jakarta Sans"/>
              </a:rPr>
              <a:t>atau</a:t>
            </a:r>
            <a:r>
              <a:rPr sz="1200" b="1" i="0" u="none" dirty="0">
                <a:solidFill>
                  <a:srgbClr val="991B1B"/>
                </a:solidFill>
                <a:latin typeface="Plus Jakarta Sans"/>
              </a:rPr>
              <a:t> Supplier B!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709862"/>
            <a:ext cx="5667375" cy="2381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40AF"/>
                </a:solidFill>
                <a:latin typeface="Plus Jakarta Sans"/>
              </a:rPr>
              <a:t>Menjaga Integritas Ternary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062287"/>
            <a:ext cx="48768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E3A8A"/>
                </a:solidFill>
                <a:latin typeface="Plus Jakarta Sans"/>
              </a:rPr>
              <a:t>Kombinasi ketiganya membentuk fakta transaksi tunggal yang utuh (*atomic transaction*).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570809"/>
            <a:ext cx="487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Kepastian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riwayat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sumber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barang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sampai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ke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lokasi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penyimpanan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1E40AF"/>
                </a:solidFill>
                <a:latin typeface="Plus Jakarta Sans"/>
              </a:rPr>
              <a:t>akurat</a:t>
            </a:r>
            <a:r>
              <a:rPr sz="1200" b="1" i="0" u="none" dirty="0">
                <a:solidFill>
                  <a:srgbClr val="1E40AF"/>
                </a:solidFill>
                <a:latin typeface="Plus Jakarta Sans"/>
              </a:rPr>
              <a:t> 100%.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454598"/>
            <a:ext cx="59769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91B1B"/>
                </a:solidFill>
                <a:latin typeface="Plus Jakarta Sans"/>
              </a:rPr>
              <a:t>• Supplier A memasok Product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759398"/>
            <a:ext cx="59769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91B1B"/>
                </a:solidFill>
                <a:latin typeface="Plus Jakarta Sans"/>
              </a:rPr>
              <a:t>• Warehouse Y menyimpan Product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064198"/>
            <a:ext cx="59769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91B1B"/>
                </a:solidFill>
                <a:latin typeface="Plus Jakarta Sans"/>
              </a:rPr>
              <a:t>• Supplier A melayani Warehouse 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3856434"/>
            <a:ext cx="4552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40AF"/>
                </a:solidFill>
                <a:latin typeface="JetBrains Mono"/>
              </a:rPr>
              <a:t>PASOKAN (supplier_id, product_id, warehouse_id, qty)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82973"/>
            <a:ext cx="109728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7725" y="2511623"/>
            <a:ext cx="10496550" cy="2371725"/>
          </a:xfrm>
          <a:prstGeom prst="roundRect">
            <a:avLst>
              <a:gd name="adj" fmla="val 321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PEMETAAN RELASIONAL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Transformasi Relasi Ternary ke Skema Relasional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50073"/>
            <a:ext cx="110680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475569"/>
                </a:solidFill>
                <a:latin typeface="Plus Jakarta Sans"/>
              </a:rPr>
              <a:t>Aturan</a:t>
            </a: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Plus Jakarta Sans"/>
              </a:rPr>
              <a:t>Kunci</a:t>
            </a: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Primary key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berupa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kombinasi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(</a:t>
            </a: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composite PK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)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dari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seluruh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FK yang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terlibat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dapat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menggunakan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surrogate key</a:t>
            </a:r>
            <a:r>
              <a:rPr lang="en-US" sz="1350" b="1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(e.g.,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supply_id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)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dengan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batasan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UNIQUE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komposit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121098"/>
            <a:ext cx="11344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Tabel Asosiatif Penggabung 3 Entitas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2702123"/>
            <a:ext cx="11153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JetBrains Mono"/>
              </a:rPr>
              <a:t>SUPPLIER_PRODUCT_WAREHOUSE 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3035498"/>
            <a:ext cx="10925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JetBrains Mono"/>
              </a:rPr>
              <a:t>supplier_id [FK],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" y="3292673"/>
            <a:ext cx="10925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JetBrains Mono"/>
              </a:rPr>
              <a:t>product_id [FK],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6825" y="3549848"/>
            <a:ext cx="10925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JetBrains Mono"/>
              </a:rPr>
              <a:t>warehouse_id [FK],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6825" y="3807023"/>
            <a:ext cx="10925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JetBrains Mono"/>
              </a:rPr>
              <a:t>quantity, supply_date,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825" y="4140398"/>
            <a:ext cx="10925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JetBrains Mono"/>
              </a:rPr>
              <a:t>PRIMARY KEY (supplier_id, product_id, warehouse_id, supply_date)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473773"/>
            <a:ext cx="11153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JetBrains Mono"/>
              </a:rPr>
              <a:t>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06873"/>
            <a:ext cx="535305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606873"/>
            <a:ext cx="5353050" cy="2466975"/>
          </a:xfrm>
          <a:prstGeom prst="roundRect">
            <a:avLst>
              <a:gd name="adj" fmla="val 463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67475" y="3197423"/>
            <a:ext cx="4876800" cy="10668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STUDI KASUS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Domain Kasus: E-Commerce Product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844998"/>
            <a:ext cx="6400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Entitas Inti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7475" y="2844998"/>
            <a:ext cx="5724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40AF"/>
                </a:solidFill>
                <a:latin typeface="Plus Jakarta Sans"/>
              </a:rPr>
              <a:t>Contoh Hierarki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4416623"/>
            <a:ext cx="57245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40AF"/>
                </a:solidFill>
                <a:latin typeface="Plus Jakarta Sans"/>
              </a:rPr>
              <a:t>Kasus ini digunakan berkesinambungan hingga skema DBD akhir.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197423"/>
            <a:ext cx="6096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CATEGORY: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Pengelompokan hierarki produk.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483173"/>
            <a:ext cx="6096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PRODUCT: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Informasi umum barang.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68923"/>
            <a:ext cx="6096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PRODUCT_VARIANT: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Spesifikasi SKU, RAM, Warna.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54673"/>
            <a:ext cx="6096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SUPPLIER: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Vendor penyedia barang.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40423"/>
            <a:ext cx="6096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CUSTOMER: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Pembeli terdaftar.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626173"/>
            <a:ext cx="6096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275" b="1" i="0" u="none">
                <a:solidFill>
                  <a:srgbClr val="334155"/>
                </a:solidFill>
                <a:latin typeface="Plus Jakarta Sans"/>
              </a:rPr>
              <a:t>ORDER &amp; DETAIL: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Transaksi pembelian.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59348"/>
            <a:ext cx="55626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40AF"/>
                </a:solidFill>
                <a:latin typeface="Plus Jakarta Sans"/>
              </a:rPr>
              <a:t>PRODUCT:</a:t>
            </a:r>
            <a:r>
              <a:rPr sz="1275" b="0" i="0" u="none">
                <a:solidFill>
                  <a:srgbClr val="1E40AF"/>
                </a:solidFill>
                <a:latin typeface="Plus Jakarta Sans"/>
              </a:rPr>
              <a:t> Laptop Asus Zenbook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626048"/>
            <a:ext cx="5410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→ Varian 1: RAM 8GB / SSD 512GB (SKU-01)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883223"/>
            <a:ext cx="5410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→ Varian 2: RAM 16GB / SSD 1TB (SKU-02)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57500" y="3130748"/>
            <a:ext cx="15240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153025" y="3130748"/>
            <a:ext cx="15240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48550" y="3130748"/>
            <a:ext cx="1885950" cy="466725"/>
          </a:xfrm>
          <a:prstGeom prst="roundRect">
            <a:avLst>
              <a:gd name="adj" fmla="val 1632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43225" y="4083248"/>
            <a:ext cx="15240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38750" y="4083248"/>
            <a:ext cx="15240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34275" y="4083248"/>
            <a:ext cx="1714500" cy="466725"/>
          </a:xfrm>
          <a:prstGeom prst="roundRect">
            <a:avLst>
              <a:gd name="adj" fmla="val 1632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512" y="3754635"/>
            <a:ext cx="1333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137" y="3754635"/>
            <a:ext cx="1333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ARSITEKTUR KONSEPTUAL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Diagram EERD Sistem 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0" y="3264098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3264098"/>
            <a:ext cx="752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1 : N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3025" y="3264098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9425" y="3264098"/>
            <a:ext cx="752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1 : N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306" y="3264098"/>
            <a:ext cx="197643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PRODUCT_VARIANT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2062" y="3749873"/>
            <a:ext cx="25598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Dipesan dalam Transaksi (1:N)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3225" y="4216598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4216598"/>
            <a:ext cx="752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1 : N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0" y="4216598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4216598"/>
            <a:ext cx="752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1 : N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0462" y="4216598"/>
            <a:ext cx="1762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ORDER_DETAIL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07123"/>
            <a:ext cx="10972800" cy="438150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35448"/>
            <a:ext cx="5372100" cy="1781175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635448"/>
            <a:ext cx="5372100" cy="1781175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607123"/>
            <a:ext cx="38100" cy="438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PONDASI PEMODELAN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Analisis Aturan Bisnis (Business Rules)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721423"/>
            <a:ext cx="113538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40AF"/>
                </a:solidFill>
                <a:latin typeface="Plus Jakarta Sans"/>
              </a:rPr>
              <a:t>Aksioma Utama: "Perancangan database dimulai dari business rules, bukan dari struktur tabel."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835473"/>
            <a:ext cx="65258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Aturan Katalog Produk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325" y="2835473"/>
            <a:ext cx="5781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Aturan Transaksi Pesanan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149798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Satu Category dapat menaungi banyak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435548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Satu Product wajib memiliki minimal satu Variant.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21298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Setiap Variant memiliki SKU unik sebagai identitas fisik.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007048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Supplier memasok varian barang via tabel pasokan.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149798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Satu Customer dapat memiliki nol atau banyak Order.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3435548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Setiap Order tepat dimiliki oleh satu Customer.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721298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Satu Order berisi satu atau banyak Order Detail.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007048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Setiap Order Detail mengacu pada tepat satu Variant.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73610"/>
            <a:ext cx="1905000" cy="809625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76550" y="3173610"/>
            <a:ext cx="1905000" cy="809625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43500" y="3173610"/>
            <a:ext cx="1905000" cy="809625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10450" y="3173610"/>
            <a:ext cx="1905000" cy="809625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77400" y="3173610"/>
            <a:ext cx="1905000" cy="809625"/>
          </a:xfrm>
          <a:prstGeom prst="roundRect">
            <a:avLst>
              <a:gd name="adj" fmla="val 11764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502223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3502223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502223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3502223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METODOLOGI LOGIKAL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Pipeline Transformasi: EERD Menjadi Tabel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381000" y="4288035"/>
            <a:ext cx="12954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Transformasi bersifat matematis dan deterministik: menjamin tidak ada data atau batasan bisnis yang hilang.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" y="3345060"/>
            <a:ext cx="21145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Plus Jakarta Sans"/>
              </a:rPr>
              <a:t>LANGKAH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1775" y="3345060"/>
            <a:ext cx="21145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Plus Jakarta Sans"/>
              </a:rPr>
              <a:t>LANGKAH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725" y="3345060"/>
            <a:ext cx="21145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Plus Jakarta Sans"/>
              </a:rPr>
              <a:t>LANGKAH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5675" y="3345060"/>
            <a:ext cx="21145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Plus Jakarta Sans"/>
              </a:rPr>
              <a:t>LANGKAH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2625" y="3345060"/>
            <a:ext cx="21145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Plus Jakarta Sans"/>
              </a:rPr>
              <a:t>LANGKAH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162" y="3602235"/>
            <a:ext cx="2047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Petakan Entitas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5112" y="3602235"/>
            <a:ext cx="2047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Petakan Relasi 1:N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2062" y="3602235"/>
            <a:ext cx="2047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Junction M:N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9012" y="3602235"/>
            <a:ext cx="2047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Petakan Subtype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5962" y="3602235"/>
            <a:ext cx="2047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Validasi Integritas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11598"/>
            <a:ext cx="5343525" cy="3057525"/>
          </a:xfrm>
          <a:prstGeom prst="roundRect">
            <a:avLst>
              <a:gd name="adj" fmla="val 373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7925" y="2311598"/>
            <a:ext cx="5324475" cy="3057525"/>
          </a:xfrm>
          <a:prstGeom prst="roundRect">
            <a:avLst>
              <a:gd name="adj" fmla="val 37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24625" y="3292673"/>
            <a:ext cx="4791075" cy="1809750"/>
          </a:xfrm>
          <a:prstGeom prst="roundRect">
            <a:avLst>
              <a:gd name="adj" fmla="val 42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ATURAN TRANSFORMASI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Aturan Pemetaan: Entitas dan Atribut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578298"/>
            <a:ext cx="4886325" cy="2524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CONTOH FORMULA SKEMA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587823"/>
            <a:ext cx="628828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Prinsip Pemetaan Dasar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873573"/>
            <a:ext cx="56673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978348"/>
            <a:ext cx="5988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Entitas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→ Berubah menjadi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Tabel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relasional.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321248"/>
            <a:ext cx="5988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Atribut Tunggal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→ Berubah menjadi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Kolom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tabel.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64148"/>
            <a:ext cx="5988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Identifier Utama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→ Menjadi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Primary Key (PK)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07048"/>
            <a:ext cx="48863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Atribut Komposit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→ Dipecah menjadi kolom-kolom individual.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3454598"/>
            <a:ext cx="55054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8FAFC"/>
                </a:solidFill>
                <a:latin typeface="JetBrains Mono"/>
              </a:rPr>
              <a:t>CUSTOMER 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7050" y="3721298"/>
            <a:ext cx="5314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JetBrains Mono"/>
              </a:rPr>
              <a:t>customer_id INT [PK],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7050" y="3968948"/>
            <a:ext cx="5314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JetBrains Mono"/>
              </a:rPr>
              <a:t>nama VARCHAR(100) NOT NULL,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7050" y="4216598"/>
            <a:ext cx="5314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JetBrains Mono"/>
              </a:rPr>
              <a:t>email VARCHAR(100) UNIQUE NOT NULL,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7050" y="4464248"/>
            <a:ext cx="5314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JetBrains Mono"/>
              </a:rPr>
              <a:t>no_hp VARCHAR(20)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6550" y="4730948"/>
            <a:ext cx="55054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8FAFC"/>
                </a:solidFill>
                <a:latin typeface="JetBrains Mono"/>
              </a:rPr>
              <a:t>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9735"/>
            <a:ext cx="10972800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649735"/>
            <a:ext cx="38100" cy="5238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02210"/>
            <a:ext cx="5148262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15087" y="3402210"/>
            <a:ext cx="5167312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62" y="3883223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ATURAN TRANSFORMASI 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Pemetaan Relasi 1:N (One-to-Many)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21435"/>
            <a:ext cx="115824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Alasan: Jika FK diletakkan pada sisi 1, tabel induk akan menyimpan multi-value (daftar order), melanggar 1NF.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80213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Prinsip Utama: "Foreign Key (FK) SELALU diletakkan pada entitas sisi N (Many)."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592710"/>
            <a:ext cx="4862512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SISI 1 (PARENT)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5587" y="3592710"/>
            <a:ext cx="4881562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SISI N (CHILD DENGAN 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840360"/>
            <a:ext cx="623202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173735"/>
            <a:ext cx="59352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JetBrains Mono"/>
              </a:rPr>
              <a:t>customer_id [PK], nama,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4637" y="3849885"/>
            <a:ext cx="55673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4637" y="4183260"/>
            <a:ext cx="55673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JetBrains Mono"/>
              </a:rPr>
              <a:t>order_id [PK], tgl_order, </a:t>
            </a:r>
            <a:r>
              <a:rPr sz="1200" b="1" i="0" u="none">
                <a:solidFill>
                  <a:srgbClr val="334155"/>
                </a:solidFill>
                <a:latin typeface="JetBrains Mono"/>
              </a:rPr>
              <a:t>customer_id [FK]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40173"/>
            <a:ext cx="5343525" cy="3000375"/>
          </a:xfrm>
          <a:prstGeom prst="roundRect">
            <a:avLst>
              <a:gd name="adj" fmla="val 38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7925" y="2340173"/>
            <a:ext cx="5324475" cy="3000375"/>
          </a:xfrm>
          <a:prstGeom prst="roundRect">
            <a:avLst>
              <a:gd name="adj" fmla="val 38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654623"/>
            <a:ext cx="4791075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2997398"/>
            <a:ext cx="4791075" cy="1562100"/>
          </a:xfrm>
          <a:prstGeom prst="roundRect">
            <a:avLst>
              <a:gd name="adj" fmla="val 487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ATURAN TRANSFORMASI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Pemetaan Relasi 1:1 dan Aturan UNIQUE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616398"/>
            <a:ext cx="628828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Strategi Pemetaan 1:1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987873"/>
            <a:ext cx="48863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Letakkan Foreign Key pada tabel yang memiliki ketergantungan eksistensial lebih kuat.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606873"/>
            <a:ext cx="5667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Contoh Skema: USER &amp;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673798"/>
            <a:ext cx="4886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UNIQUE mencegah satu akun pengguna memiliki lebih dari satu profil.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3816548"/>
            <a:ext cx="55840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Kunci Penentu: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4073723"/>
            <a:ext cx="55840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Kolom FK WAJIB diberi batasan UNIQUE.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3159323"/>
            <a:ext cx="55054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JetBrains Mono"/>
              </a:rPr>
              <a:t>USER_PROFILE 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7050" y="3426023"/>
            <a:ext cx="5314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8FAFC"/>
                </a:solidFill>
                <a:latin typeface="JetBrains Mono"/>
              </a:rPr>
              <a:t>profile_id INT [PK],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7050" y="3673673"/>
            <a:ext cx="5314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E2E8F0"/>
                </a:solidFill>
                <a:latin typeface="JetBrains Mono"/>
              </a:rPr>
              <a:t>alamat TEXT,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7050" y="3921323"/>
            <a:ext cx="5314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59E0B"/>
                </a:solidFill>
                <a:latin typeface="JetBrains Mono"/>
              </a:rPr>
              <a:t>user_id INT [FK] [UNIQUE]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4188023"/>
            <a:ext cx="55054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JetBrains Mono"/>
              </a:rPr>
              <a:t>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40323"/>
            <a:ext cx="10972800" cy="1609725"/>
          </a:xfrm>
          <a:prstGeom prst="roundRect">
            <a:avLst>
              <a:gd name="adj" fmla="val 71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30673"/>
            <a:ext cx="44196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62800" y="2530673"/>
            <a:ext cx="44196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ATURAN TRANSFORMASI (4)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Pemetaan Relasi M:N: Junction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66700" y="3768923"/>
            <a:ext cx="12725400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SOLUSI: TABEL ASOSIATIF (JUNCTION 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600" y="2840235"/>
            <a:ext cx="2362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Plus Jakarta Sans"/>
              </a:rPr>
              <a:t>M : N Dilarang Langsung!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26218" y="4045148"/>
            <a:ext cx="12644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ENROLLMENT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26218" y="4407098"/>
            <a:ext cx="12644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1E40AF"/>
                </a:solidFill>
                <a:latin typeface="JetBrains Mono"/>
              </a:rPr>
              <a:t>student_id [FK], course_id [FK], enrollment_date, 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26218" y="4702373"/>
            <a:ext cx="12644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JetBrains Mono"/>
              </a:rPr>
              <a:t>PRIMARY KEY (student_id, course_id)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576" y="2711648"/>
            <a:ext cx="51756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806" y="2968823"/>
            <a:ext cx="4929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JetBrains Mono"/>
              </a:rPr>
              <a:t>student_id [PK], nama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776" y="2711648"/>
            <a:ext cx="51756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8006" y="2968823"/>
            <a:ext cx="4929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JetBrains Mono"/>
              </a:rPr>
              <a:t>course_id [PK], nama_mk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0825"/>
            <a:ext cx="3498800" cy="2099220"/>
          </a:xfrm>
          <a:prstGeom prst="roundRect">
            <a:avLst>
              <a:gd name="adj" fmla="val 453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7000" y="2790825"/>
            <a:ext cx="3517850" cy="2099220"/>
          </a:xfrm>
          <a:prstGeom prst="roundRect">
            <a:avLst>
              <a:gd name="adj" fmla="val 4537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83450" y="2790825"/>
            <a:ext cx="3498800" cy="2099220"/>
          </a:xfrm>
          <a:prstGeom prst="roundRect">
            <a:avLst>
              <a:gd name="adj" fmla="val 453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MANAJEMEN KUNCI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Candidate Key, Primary Key &amp; Surrogate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19425"/>
            <a:ext cx="3136850" cy="1642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KUNCI KANDIDAT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00" y="3019425"/>
            <a:ext cx="3155900" cy="1642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KUNCI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2050" y="3019425"/>
            <a:ext cx="3136850" cy="1642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KUNCI PENGGANTI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86125"/>
            <a:ext cx="396709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Candidate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38550"/>
            <a:ext cx="311780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Semua atribut/kombinasi atribut yang unik dan minimal yang berpotensi menjadi PK.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432845"/>
            <a:ext cx="3778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Contoh: email, no_ktp, nim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650" y="3295650"/>
            <a:ext cx="396709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Primary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650" y="3648075"/>
            <a:ext cx="311780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Satu candidate key terpilih yang menjadi identifier resmi data. Wajib unik dan non-null.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650" y="4442370"/>
            <a:ext cx="3778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Dipilih: customer_id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575" y="3286125"/>
            <a:ext cx="387042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Surrogate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575" y="3638550"/>
            <a:ext cx="311780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Identifier buatan sistem tanpa makna bisnis (e.g., auto-increment / UUID) demi performa join.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575" y="4432845"/>
            <a:ext cx="3778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Contoh: id INT AUTO_INCREMENT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2983110"/>
            <a:ext cx="5334000" cy="781050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916560"/>
            <a:ext cx="5334000" cy="781050"/>
          </a:xfrm>
          <a:prstGeom prst="roundRect">
            <a:avLst>
              <a:gd name="adj" fmla="val 9756"/>
            </a:avLst>
          </a:prstGeom>
          <a:solidFill>
            <a:srgbClr val="FEE2E2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3173610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4107060"/>
            <a:ext cx="1143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ATURAN INTEGRITAS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Integritas Entitas (Entity Integrity)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73635"/>
            <a:ext cx="70008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Aturan Baku Primary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54635"/>
            <a:ext cx="6667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Harus Unik: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Tidak boleh ada dua tuple dengan nilai PK serupa.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88010"/>
            <a:ext cx="6667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Tidak Boleh NULL: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Setiap baris wajib memiliki identitas pasti.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3145035"/>
            <a:ext cx="5781675" cy="2000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Plus Jakarta Sans"/>
              </a:rPr>
              <a:t>DATA VALID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3402210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4532D"/>
                </a:solidFill>
                <a:latin typeface="JetBrains Mono"/>
              </a:rPr>
              <a:t>customer_id: [1], [2], [3] → Semua unik dan terisi.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4078485"/>
            <a:ext cx="5781675" cy="20002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Plus Jakarta Sans"/>
              </a:rPr>
              <a:t>DATA TIDAK VALID (PELANGGARAN)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4335660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7F1D1D"/>
                </a:solidFill>
                <a:latin typeface="JetBrains Mono"/>
              </a:rPr>
              <a:t>customer_id: [1], [NULL ✗], [1 ✗] → Ditolak DBMS!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0275" y="2906910"/>
            <a:ext cx="5572125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188023"/>
            <a:ext cx="5095875" cy="628650"/>
          </a:xfrm>
          <a:prstGeom prst="roundRect">
            <a:avLst>
              <a:gd name="adj" fmla="val 606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3716535"/>
            <a:ext cx="5095875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188023"/>
            <a:ext cx="38100" cy="6286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48400" y="371653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ATURAN INTEGRITAS 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Integritas Referensial (Referential Integrity)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64048"/>
            <a:ext cx="668833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Validitas Kunci Tamu (Foreign Key)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64098"/>
            <a:ext cx="51911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Nilai kolom Foreign Key pada tabel anak WAJIB merujuk pada nilai Primary Key yang sah di tabel induk, atau bernilai NULL (jika opsional).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302323"/>
            <a:ext cx="4848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Plus Jakarta Sans"/>
              </a:rPr>
              <a:t>Mencegah fenomena Orphan Record (data anak kehilangan induk).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3145035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TABEL INDUK (CUSTOMER):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383160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563EB"/>
                </a:solidFill>
                <a:latin typeface="JetBrains Mono"/>
              </a:rPr>
              <a:t>customer_id PK: [ 1, 2, 3 ]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3859410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TABEL ANAK (ORDER):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097535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6A34A"/>
                </a:solidFill>
                <a:latin typeface="JetBrains Mono"/>
              </a:rPr>
              <a:t>order_1: customer_id = 1 ✓ (Valid)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4335660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DC2626"/>
                </a:solidFill>
                <a:latin typeface="JetBrains Mono"/>
              </a:rPr>
              <a:t>order_2: customer_id = 99 ✗ (Error! Parent tidak ada)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7512"/>
            <a:ext cx="3505200" cy="1765845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57512"/>
            <a:ext cx="3505200" cy="1765845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57512"/>
            <a:ext cx="3505200" cy="1765845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176587"/>
            <a:ext cx="781050" cy="247650"/>
          </a:xfrm>
          <a:prstGeom prst="roundRect">
            <a:avLst>
              <a:gd name="adj" fmla="val 15384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81525" y="3176587"/>
            <a:ext cx="809625" cy="247650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15325" y="3176587"/>
            <a:ext cx="752475" cy="247650"/>
          </a:xfrm>
          <a:prstGeom prst="roundRect">
            <a:avLst>
              <a:gd name="adj" fmla="val 15384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TINDAKAN REFERENSIAL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Aksi Integritas: ON DELETE &amp; ON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4687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RESTRICT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471862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Tolak Operasi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05237"/>
            <a:ext cx="312420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Menolak penghapusan baris induk jika masih memiliki anak. Default paling aman untuk data finansial.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214687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Plus Jakarta Sans"/>
              </a:rPr>
              <a:t>CASCADE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471862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Hapus Berantai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805237"/>
            <a:ext cx="312420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Jika baris induk dihapus, seluruh baris anak terkait otomatis ikut terhapus dari basis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214687"/>
            <a:ext cx="695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730A3"/>
                </a:solidFill>
                <a:latin typeface="Plus Jakarta Sans"/>
              </a:rPr>
              <a:t>SET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471862"/>
            <a:ext cx="387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Kosongkan Nilai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805237"/>
            <a:ext cx="312420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Mengubah kolom FK menjadi NULL saat baris induk dihapus (hanya berlaku jika kolom bersifat opsional).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59260"/>
            <a:ext cx="5343525" cy="2362200"/>
          </a:xfrm>
          <a:prstGeom prst="roundRect">
            <a:avLst>
              <a:gd name="adj" fmla="val 483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7925" y="2887860"/>
            <a:ext cx="5324475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987" y="3154560"/>
            <a:ext cx="51435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DATABASE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Dari Skema Relasional ke Database Diagram (DBD)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935485"/>
            <a:ext cx="628828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Elemen Wajib Database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7032" y="3764160"/>
            <a:ext cx="626625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Visualisasi Teknis Presisi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108" y="4107060"/>
            <a:ext cx="471606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Menjembatani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pemodelan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konseptual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dengan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implementasi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fisik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pada 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sistem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DBMS 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nyata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306960"/>
            <a:ext cx="5988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Kotak Tabel: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Mencantumkan nama tabel dan tipe datanya.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40335"/>
            <a:ext cx="5988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Penanda Kunci: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Ikon eksplisit untuk PK dan FK.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973710"/>
            <a:ext cx="48863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Garis Relasi: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Menghubungkan kolom PK ke kolom FK tujuan.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526160"/>
            <a:ext cx="5988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Kardinalitas: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Simbol ujung garis (1 ke Many).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92635"/>
            <a:ext cx="2072580" cy="1266825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34580" y="2992635"/>
            <a:ext cx="2072580" cy="1266825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59560" y="2992635"/>
            <a:ext cx="2072580" cy="1266825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84541" y="2992635"/>
            <a:ext cx="2072580" cy="1266825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521" y="2992635"/>
            <a:ext cx="2072580" cy="1266825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1525" y="3154560"/>
            <a:ext cx="1748730" cy="295275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96505" y="3154560"/>
            <a:ext cx="1748730" cy="295275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21485" y="3154560"/>
            <a:ext cx="1748730" cy="295275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46466" y="3154560"/>
            <a:ext cx="1748730" cy="295275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71446" y="3154560"/>
            <a:ext cx="1748730" cy="295275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HASIL LOGIKAL AKHIR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Contoh Database Diagram Lengkap: E-Commerce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81000" y="4488060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Hubungan foreign key mengalir konsisten dari entitas referensi ke entitas transaksi.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3211710"/>
            <a:ext cx="165348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526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[PK]</a:t>
            </a:r>
            <a:r>
              <a:rPr sz="1050" b="0" i="0" u="none">
                <a:solidFill>
                  <a:srgbClr val="0F172A"/>
                </a:solidFill>
                <a:latin typeface="JetBrains Mono"/>
              </a:rPr>
              <a:t> category_id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7165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JetBrains Mono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1755" y="3211710"/>
            <a:ext cx="165348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6505" y="3526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[PK]</a:t>
            </a:r>
            <a:r>
              <a:rPr sz="1050" b="0" i="0" u="none">
                <a:solidFill>
                  <a:srgbClr val="0F172A"/>
                </a:solidFill>
                <a:latin typeface="JetBrains Mono"/>
              </a:rPr>
              <a:t> product_id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6505" y="37165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[FK]</a:t>
            </a:r>
            <a:r>
              <a:rPr sz="1050" b="0" i="0" u="none">
                <a:solidFill>
                  <a:srgbClr val="2563EB"/>
                </a:solidFill>
                <a:latin typeface="JetBrains Mono"/>
              </a:rPr>
              <a:t> category_id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6505" y="3907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JetBrains Mono"/>
              </a:rPr>
              <a:t>name, desc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6735" y="3211710"/>
            <a:ext cx="165348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VARIANT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485" y="3526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[PK]</a:t>
            </a:r>
            <a:r>
              <a:rPr sz="1050" b="0" i="0" u="none">
                <a:solidFill>
                  <a:srgbClr val="0F172A"/>
                </a:solidFill>
                <a:latin typeface="JetBrains Mono"/>
              </a:rPr>
              <a:t> variant_id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485" y="37165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[FK]</a:t>
            </a:r>
            <a:r>
              <a:rPr sz="1050" b="0" i="0" u="none">
                <a:solidFill>
                  <a:srgbClr val="2563EB"/>
                </a:solidFill>
                <a:latin typeface="JetBrains Mono"/>
              </a:rPr>
              <a:t> product_id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485" y="3907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JetBrains Mono"/>
              </a:rPr>
              <a:t>sku, price,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1716" y="3211710"/>
            <a:ext cx="165348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ORDER_DETAIL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6466" y="3526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[PK]</a:t>
            </a:r>
            <a:r>
              <a:rPr sz="1050" b="0" i="0" u="none">
                <a:solidFill>
                  <a:srgbClr val="0F172A"/>
                </a:solidFill>
                <a:latin typeface="JetBrains Mono"/>
              </a:rPr>
              <a:t> detail_id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6466" y="37165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[FK]</a:t>
            </a:r>
            <a:r>
              <a:rPr sz="1050" b="0" i="0" u="none">
                <a:solidFill>
                  <a:srgbClr val="2563EB"/>
                </a:solidFill>
                <a:latin typeface="JetBrains Mono"/>
              </a:rPr>
              <a:t> order_id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6466" y="3907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[FK]</a:t>
            </a:r>
            <a:r>
              <a:rPr sz="1050" b="0" i="0" u="none">
                <a:solidFill>
                  <a:srgbClr val="2563EB"/>
                </a:solidFill>
                <a:latin typeface="JetBrains Mono"/>
              </a:rPr>
              <a:t> variant_id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6696" y="3211710"/>
            <a:ext cx="165348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1446" y="3526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JetBrains Mono"/>
              </a:rPr>
              <a:t>[PK]</a:t>
            </a:r>
            <a:r>
              <a:rPr sz="1050" b="0" i="0" u="none">
                <a:solidFill>
                  <a:srgbClr val="0F172A"/>
                </a:solidFill>
                <a:latin typeface="JetBrains Mono"/>
              </a:rPr>
              <a:t> order_id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1446" y="37165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[FK]</a:t>
            </a:r>
            <a:r>
              <a:rPr sz="1050" b="0" i="0" u="none">
                <a:solidFill>
                  <a:srgbClr val="2563EB"/>
                </a:solidFill>
                <a:latin typeface="JetBrains Mono"/>
              </a:rPr>
              <a:t> customer_id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1446" y="390703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JetBrains Mono"/>
              </a:rPr>
              <a:t>order_date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5960"/>
            <a:ext cx="5372100" cy="1828800"/>
          </a:xfrm>
          <a:prstGeom prst="roundRect">
            <a:avLst>
              <a:gd name="adj" fmla="val 520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25960"/>
            <a:ext cx="5372100" cy="1828800"/>
          </a:xfrm>
          <a:prstGeom prst="roundRect">
            <a:avLst>
              <a:gd name="adj" fmla="val 520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PENJAMINAN MUTU DESAIN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Checklist Validasi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125985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Semua entitas sudah bertransformasi menjadi tabel.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430785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Setiap tabel memiliki Primary Key definitif.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35585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Seluruh Foreign Key mengarah ke PK yang valid.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40385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Relasi M:N diselesaikan oleh junction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345185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Tidak ada Foreign Key yang kehilangan induk.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3125985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Semua aturan bisnis terwakili sempurna.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3430785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Constraint subtype (d/o, total/partial) terakomodasi.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3735585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Tidak ada data penting hilang saat transformasi.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4040385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Konvensi penamaan tabel dan kolom konsisten.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4345185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Plus Jakarta Sans"/>
              </a:rPr>
              <a:t>✓ DBD sinkron 100% dengan skema relasional.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2623"/>
            <a:ext cx="5343525" cy="1895475"/>
          </a:xfrm>
          <a:prstGeom prst="roundRect">
            <a:avLst>
              <a:gd name="adj" fmla="val 502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9825" y="2892623"/>
            <a:ext cx="5362575" cy="1895475"/>
          </a:xfrm>
          <a:prstGeom prst="roundRect">
            <a:avLst>
              <a:gd name="adj" fmla="val 5025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LATIHAN TERBIMBING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Studi Kasus: Sistem Laboratorium Kampus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130748"/>
            <a:ext cx="638829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Entitas yang Tersedia: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45073"/>
            <a:ext cx="4962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563EB"/>
                </a:solidFill>
                <a:latin typeface="JetBrains Mono"/>
              </a:rPr>
              <a:t>Mahasiswa, Dosen, Laboratorium, Komputer, Peminjaman, Teknisi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97523"/>
            <a:ext cx="49625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Aturan: Dosen &amp; Mahasiswa dapat meminjam komputer. Teknisi menangani banyak lab. Mahasiswa bisa menjadi asisten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140273"/>
            <a:ext cx="5724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Tugas Analisis Mahasiswa: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3473648"/>
            <a:ext cx="57245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3A8A"/>
                </a:solidFill>
                <a:latin typeface="Plus Jakarta Sans"/>
              </a:rPr>
              <a:t>1. Tentukan Supertype dan Subtype yang relevan.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759398"/>
            <a:ext cx="57245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3A8A"/>
                </a:solidFill>
                <a:latin typeface="Plus Jakarta Sans"/>
              </a:rPr>
              <a:t>2. Tentukan constraint: Disjoint atau Overlapping?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4045148"/>
            <a:ext cx="57245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3A8A"/>
                </a:solidFill>
                <a:latin typeface="Plus Jakarta Sans"/>
              </a:rPr>
              <a:t>3. Identifikasi relasi M:N dan rancang junction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4330898"/>
            <a:ext cx="57245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3A8A"/>
                </a:solidFill>
                <a:latin typeface="Plus Jakarta Sans"/>
              </a:rPr>
              <a:t>4. Tentukan Candidate Key, Primary Key, dan Foreign Key.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11635"/>
            <a:ext cx="5353050" cy="2457450"/>
          </a:xfrm>
          <a:prstGeom prst="roundRect">
            <a:avLst>
              <a:gd name="adj" fmla="val 387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611635"/>
            <a:ext cx="5353050" cy="2457450"/>
          </a:xfrm>
          <a:prstGeom prst="roundRect">
            <a:avLst>
              <a:gd name="adj" fmla="val 387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TUGAS PROYEK INDIVIDU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Tugas: EERD → Skema Relasional → DBD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811660"/>
            <a:ext cx="6500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Pilih 1 Domain Kasus: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375" y="2811660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Deliverable Wajib: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125985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A. E-Commerce Multi-Vendor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383160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B. Sistem Informasi Akademik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640335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C. Sistem Perpustakaan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897510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D. Sistem Rawat Inap 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154685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E. Manajemen Event &amp; Tiket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411860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F. Sistem Pengelolaan KKN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669035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G. Rental Kendaraan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125985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Dokumen Business Rules lengkap.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402210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Diagram EERD (dengan batasan subtype).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678435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Identifikasi relasi rekursif / ternary jika 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954660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Skema Relasional hasil pemetaan.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4230885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Database Diagram (DBD) profesional.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11635"/>
            <a:ext cx="5362575" cy="2457450"/>
          </a:xfrm>
          <a:prstGeom prst="roundRect">
            <a:avLst>
              <a:gd name="adj" fmla="val 387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38875" y="2611635"/>
            <a:ext cx="5343525" cy="2457450"/>
          </a:xfrm>
          <a:prstGeom prst="roundRect">
            <a:avLst>
              <a:gd name="adj" fmla="val 38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STANDAR LAPORAN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Format Output Deliverable Dokumen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811660"/>
            <a:ext cx="651331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Struktur File PDF Tunggal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375" y="280213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Lampiran SQL DDL Wajib: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125985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01_Cover_Laporan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383160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02_Business_Rules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640335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03_Diagram_EERD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897510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04_Penjelasan_EERD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154685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05_Skema_Relasional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411860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06_Definisi_Kunci (PK/FK/UK)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669035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07_Database_Diagram (DBD)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116460"/>
            <a:ext cx="5762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Statement CREATE TABLE lengkap.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402210"/>
            <a:ext cx="5762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Definisi PRIMARY KEY &amp; FOREIGN 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687960"/>
            <a:ext cx="5762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Batasan UNIQUE &amp; NOT NULL.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973710"/>
            <a:ext cx="57626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Aturan ON DELETE / ON UPDATE.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0235"/>
            <a:ext cx="10972800" cy="2000250"/>
          </a:xfrm>
          <a:prstGeom prst="roundRect">
            <a:avLst>
              <a:gd name="adj" fmla="val 4761"/>
            </a:avLst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2849760"/>
          <a:ext cx="10953748" cy="1981200"/>
        </p:xfrm>
        <a:graphic>
          <a:graphicData uri="http://schemas.openxmlformats.org/drawingml/2006/table">
            <a:tbl>
              <a:tblPr/>
              <a:tblGrid>
                <a:gridCol w="38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7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Komponen Penilaian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Bobot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Komponen Penilaian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Bobot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Business Rules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Transformasi Relasional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Diagram EERD Utama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Kunci &amp; Junction 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Subtype &amp; Constraints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Integritas &amp; Aksi FK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Relasi Rekursif / Ternary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DBD &amp; Kerapian Dokumen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EVALUASI 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Distribusi Bobot Penilaian (Total: 100 Poin)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87798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87873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87948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188023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788098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RUBRIK DETAIL 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Rubrik Penilaian: EERD (25 Poin)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530673"/>
            <a:ext cx="4405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1. Ketepatan penentuan entitas kuat &amp; lemah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8025" y="2530673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5 Poin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130748"/>
            <a:ext cx="52030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2. Kelengkapan dan tipe atribut (atomic/composite)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8025" y="3130748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5 Poin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30823"/>
            <a:ext cx="5357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3. Keabsahan derajat dan makna hubungan antar relasi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68025" y="3730823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5 Poin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330898"/>
            <a:ext cx="4262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4. Ketepatan kardinalitas rasio (1:1, 1:N, M:N)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68025" y="4330898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5 Poin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930973"/>
            <a:ext cx="44172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5. Standar notasi grafis EERD yang konsisten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68025" y="4930973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5 Poin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83060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40285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897510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54735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RUBRIK DETAIL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Rubrik Penilaian: Transformasi (15 Poin)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744985"/>
            <a:ext cx="47505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Pemetaan entitas ke skema tabel tanpa anomali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2744985"/>
            <a:ext cx="809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4 Poin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402210"/>
            <a:ext cx="3845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Penempatan FK pada sisi N yang benar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0" y="3402210"/>
            <a:ext cx="809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4 Poin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59435"/>
            <a:ext cx="47029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Resolusi relasi M:N menggunakan junction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0" y="4059435"/>
            <a:ext cx="809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4 Poin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716660"/>
            <a:ext cx="39409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Preservasi aturan bisnis selama konversi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8025" y="4716660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3 Poin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9773"/>
            <a:ext cx="5372100" cy="1781175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49773"/>
            <a:ext cx="5372100" cy="1781175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RUBRIK DETAIL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Rubrik Penilaian: Kunci &amp; Integritas (20 Poin)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149798"/>
            <a:ext cx="65258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Manajemen Kunci (10 Poin)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0325" y="3149798"/>
            <a:ext cx="5781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Aturan Integritas (10 Poin)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464123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Keunikan dan stabilitas Primary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49873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Validitas relasi Foreign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35623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Evaluasi Candidate Key alternatif.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321373"/>
            <a:ext cx="62150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Justifikasi pemakaian Surrogate Key.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3464123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Penerapan Entity Integrity (NOT NULL &amp; Unique).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3749873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Penerapan Referential Integrity.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4035623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Pemilihan aksi ON DELETE yang logis.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4321373"/>
            <a:ext cx="5781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 Pencegahan anomali data orphan.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83060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40285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897510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54735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RUBRIK DETAIL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Rubrik Penilaian: DBD &amp; Dokumen (10 Poin)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744985"/>
            <a:ext cx="54411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Kesesuaian 100% antara DBD dengan skema relasional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2744985"/>
            <a:ext cx="809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4 Poin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402210"/>
            <a:ext cx="6215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Ketepatan konektor relasi dan simbol ujung garis (Crow's Foot)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8025" y="3402210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2 Poin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59435"/>
            <a:ext cx="5119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Keterbacaan label atribut, PK, dan FK pada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8025" y="4059435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2 Poin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716660"/>
            <a:ext cx="6405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Kerapian struktur laporan PDF dan kelengkapan sintaks SQL DDL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8025" y="4716660"/>
            <a:ext cx="800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2 Poin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9773"/>
            <a:ext cx="5372100" cy="1781175"/>
          </a:xfrm>
          <a:prstGeom prst="roundRect">
            <a:avLst>
              <a:gd name="adj" fmla="val 534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49773"/>
            <a:ext cx="5372100" cy="1781175"/>
          </a:xfrm>
          <a:prstGeom prst="roundRect">
            <a:avLst>
              <a:gd name="adj" fmla="val 534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EVALUASI KRITIS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9 Kesalahan Fatal Desain Basis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149798"/>
            <a:ext cx="6215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Semua relasi dipukul rata menjadi M:N.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445073"/>
            <a:ext cx="6215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Memberikan surrogate key tanpa alasan kebutuhan.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40348"/>
            <a:ext cx="6215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Foreign Key menggantung tanpa tabel parent.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35623"/>
            <a:ext cx="6215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Relasi M:N tidak dibuatkan junction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330898"/>
            <a:ext cx="6215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Relasi rekursif dipecah menjadi tabel baru.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3149798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Relasi ternary dipecah biner secara serampangan.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3445073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Aturan bisnis bertentangan dengan diagram.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3740348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Diagram visual menarik tetapi melanggar teori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4035623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✗ Database Diagram berbeda dengan skema DDL SQL.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69656" y="2045196"/>
            <a:ext cx="2452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AKSIOMA ARSITEK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708" y="2407146"/>
            <a:ext cx="10501747" cy="1382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04"/>
              </a:lnSpc>
            </a:pP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"Model basis data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bukan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tentang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menggambar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diagram yang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rumit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. Model basis data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adalah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menerjemahkan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aturan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bisnis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menjadi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struktur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data yang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konsisten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 dan </a:t>
            </a:r>
            <a:r>
              <a:rPr sz="2850" b="1" i="0" u="none" dirty="0" err="1">
                <a:solidFill>
                  <a:srgbClr val="F8FAFC"/>
                </a:solidFill>
                <a:latin typeface="Plus Jakarta Sans"/>
              </a:rPr>
              <a:t>andal</a:t>
            </a:r>
            <a:r>
              <a:rPr sz="2850" b="1" i="0" u="none" dirty="0">
                <a:solidFill>
                  <a:srgbClr val="F8FAFC"/>
                </a:solidFill>
                <a:latin typeface="Plus Jakarta Sans"/>
              </a:rPr>
              <a:t>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1287" y="4598491"/>
            <a:ext cx="14287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94A3B8"/>
                </a:solidFill>
                <a:latin typeface="Plus Jakarta Sans"/>
              </a:rPr>
              <a:t>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7637" y="4593728"/>
            <a:ext cx="447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2912" y="4598491"/>
            <a:ext cx="704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94A3B8"/>
                </a:solidFill>
                <a:latin typeface="Plus Jakarta Sans"/>
              </a:rPr>
              <a:t>EERD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5362" y="4593728"/>
            <a:ext cx="447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4918" y="4598491"/>
            <a:ext cx="17859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94A3B8"/>
                </a:solidFill>
                <a:latin typeface="Plus Jakarta Sans"/>
              </a:rPr>
              <a:t>Relational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2737" y="4593728"/>
            <a:ext cx="447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8012" y="4598491"/>
            <a:ext cx="6667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94A3B8"/>
                </a:solidFill>
                <a:latin typeface="Plus Jakarta Sans"/>
              </a:rPr>
              <a:t>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362" y="4593728"/>
            <a:ext cx="447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7637" y="4598491"/>
            <a:ext cx="9525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94A3B8"/>
                </a:solidFill>
                <a:latin typeface="Plus Jakarta Sans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737" y="4593728"/>
            <a:ext cx="447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3012" y="4598491"/>
            <a:ext cx="6477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8FAFC"/>
                </a:solidFill>
                <a:latin typeface="Plus Jakarta Sans"/>
              </a:rPr>
              <a:t>DBD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0710"/>
            <a:ext cx="5343525" cy="2019300"/>
          </a:xfrm>
          <a:prstGeom prst="roundRect">
            <a:avLst>
              <a:gd name="adj" fmla="val 471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9825" y="2830710"/>
            <a:ext cx="5362575" cy="2019300"/>
          </a:xfrm>
          <a:prstGeom prst="roundRect">
            <a:avLst>
              <a:gd name="adj" fmla="val 4716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EVALUASI 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510029" cy="3440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i="0" u="none" dirty="0">
                <a:solidFill>
                  <a:srgbClr val="0F172A"/>
                </a:solidFill>
                <a:latin typeface="Plus Jakarta Sans"/>
              </a:rPr>
              <a:t>EVALUASI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625" y="3030735"/>
            <a:ext cx="66204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i="0" u="none" dirty="0" err="1">
                <a:solidFill>
                  <a:srgbClr val="2563EB"/>
                </a:solidFill>
                <a:latin typeface="Plus Jakarta Sans"/>
              </a:rPr>
              <a:t>Diskusi</a:t>
            </a:r>
            <a:r>
              <a:rPr sz="1350" b="1" i="0" u="none" dirty="0">
                <a:solidFill>
                  <a:srgbClr val="2563EB"/>
                </a:solidFill>
                <a:latin typeface="Plus Jakarta Sans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375" y="3062287"/>
            <a:ext cx="90569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PERTANYAAN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375" y="3309937"/>
            <a:ext cx="5038725" cy="1013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1E40AF"/>
                </a:solidFill>
                <a:latin typeface="Plus Jakarta Sans"/>
              </a:rPr>
              <a:t>"Jika diagram EERD benar tetapi skema relasional salah saat ditransformasikan, apakah database tersebut tetap dapat berfungsi dengan andal? Jelaskan konsekuensinya."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9375" y="4437459"/>
            <a:ext cx="438902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Diskusikan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dan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sertakan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dalam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lembar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kesimpulan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laporan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tuga</a:t>
            </a:r>
            <a:r>
              <a:rPr lang="en-US" sz="1125" b="0" i="0" u="none" dirty="0" err="1">
                <a:solidFill>
                  <a:srgbClr val="64748B"/>
                </a:solidFill>
                <a:latin typeface="Plus Jakarta Sans"/>
              </a:rPr>
              <a:t>s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3321248"/>
            <a:ext cx="104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345060"/>
            <a:ext cx="5941218" cy="200025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Kapan suatu entitas memerlukan subtype?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597473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621285"/>
            <a:ext cx="5941218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Apa perbedaan esensial disjoint dan overlapping?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873698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897510"/>
            <a:ext cx="5941218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Kapan relasi rekursif wajib diterapkan?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149923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173735"/>
            <a:ext cx="5941218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Mengapa relasi M:N memerlukan junction table?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4426148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449960"/>
            <a:ext cx="5941218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Apa perbedaan candidate key dan primary key?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3129</Words>
  <Application>Microsoft Office PowerPoint</Application>
  <PresentationFormat>Widescreen</PresentationFormat>
  <Paragraphs>511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Plus Jakarta Sans</vt:lpstr>
      <vt:lpstr>JetBrains Mono</vt:lpstr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Lazuardi Fatahilah Hamdi</cp:lastModifiedBy>
  <cp:revision>6</cp:revision>
  <dcterms:created xsi:type="dcterms:W3CDTF">2013-01-27T09:14:16Z</dcterms:created>
  <dcterms:modified xsi:type="dcterms:W3CDTF">2026-09-22T01:35:12Z</dcterms:modified>
  <cp:category/>
</cp:coreProperties>
</file>